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79" r:id="rId9"/>
    <p:sldId id="281" r:id="rId10"/>
    <p:sldId id="280" r:id="rId11"/>
    <p:sldId id="282" r:id="rId12"/>
    <p:sldId id="283" r:id="rId13"/>
    <p:sldId id="287" r:id="rId14"/>
    <p:sldId id="274" r:id="rId15"/>
    <p:sldId id="276" r:id="rId16"/>
    <p:sldId id="275" r:id="rId17"/>
    <p:sldId id="268" r:id="rId18"/>
    <p:sldId id="269" r:id="rId19"/>
    <p:sldId id="278" r:id="rId20"/>
    <p:sldId id="277" r:id="rId21"/>
    <p:sldId id="273" r:id="rId22"/>
    <p:sldId id="272" r:id="rId23"/>
    <p:sldId id="285" r:id="rId24"/>
    <p:sldId id="286" r:id="rId25"/>
    <p:sldId id="288" r:id="rId26"/>
    <p:sldId id="26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57C"/>
    <a:srgbClr val="D73949"/>
    <a:srgbClr val="659BD2"/>
    <a:srgbClr val="5EA8DB"/>
    <a:srgbClr val="00589C"/>
    <a:srgbClr val="1B47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E265D-CC8A-EF44-840C-2D8563CA1509}" v="4918" dt="2025-08-06T23:29:48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A79555-86B9-433C-8123-7072333647E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465215-7B7E-471A-B5EB-785CD847EB8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Introduction and goals</a:t>
          </a:r>
        </a:p>
      </dgm:t>
    </dgm:pt>
    <dgm:pt modelId="{A1433C65-9FEA-4430-B1DF-491A9B9C35C5}" type="parTrans" cxnId="{2E0DBCF5-0948-45BD-8064-701A5A3A6CEE}">
      <dgm:prSet/>
      <dgm:spPr/>
      <dgm:t>
        <a:bodyPr/>
        <a:lstStyle/>
        <a:p>
          <a:endParaRPr lang="en-US"/>
        </a:p>
      </dgm:t>
    </dgm:pt>
    <dgm:pt modelId="{9428276C-1511-4B67-A399-3ABB6CC54B76}" type="sibTrans" cxnId="{2E0DBCF5-0948-45BD-8064-701A5A3A6CEE}">
      <dgm:prSet/>
      <dgm:spPr/>
      <dgm:t>
        <a:bodyPr/>
        <a:lstStyle/>
        <a:p>
          <a:endParaRPr lang="en-US"/>
        </a:p>
      </dgm:t>
    </dgm:pt>
    <dgm:pt modelId="{49EAD02A-58D9-4845-B473-92E3EE9172B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Pipeline Description </a:t>
          </a:r>
        </a:p>
      </dgm:t>
    </dgm:pt>
    <dgm:pt modelId="{0FC0867F-AA5F-4CB7-A29E-E62A91D8C8C4}" type="parTrans" cxnId="{F21BB8A5-1C04-4D9F-8F45-347ED5B75A99}">
      <dgm:prSet/>
      <dgm:spPr/>
      <dgm:t>
        <a:bodyPr/>
        <a:lstStyle/>
        <a:p>
          <a:endParaRPr lang="en-US"/>
        </a:p>
      </dgm:t>
    </dgm:pt>
    <dgm:pt modelId="{949B8307-0DC8-4581-96E5-1F175CD6B1EF}" type="sibTrans" cxnId="{F21BB8A5-1C04-4D9F-8F45-347ED5B75A99}">
      <dgm:prSet/>
      <dgm:spPr/>
      <dgm:t>
        <a:bodyPr/>
        <a:lstStyle/>
        <a:p>
          <a:endParaRPr lang="en-US"/>
        </a:p>
      </dgm:t>
    </dgm:pt>
    <dgm:pt modelId="{B2702F6B-B4DD-492B-805D-3707186C19A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Performance analysis </a:t>
          </a:r>
        </a:p>
      </dgm:t>
    </dgm:pt>
    <dgm:pt modelId="{5B9D71EE-D0F3-4DCE-9037-DA09876CFA46}" type="parTrans" cxnId="{E25698BB-60DF-4A3F-B6AD-5819EEBE3ACA}">
      <dgm:prSet/>
      <dgm:spPr/>
      <dgm:t>
        <a:bodyPr/>
        <a:lstStyle/>
        <a:p>
          <a:endParaRPr lang="en-US"/>
        </a:p>
      </dgm:t>
    </dgm:pt>
    <dgm:pt modelId="{8B6D09BB-B335-4CC0-BA8C-603E6178AC9F}" type="sibTrans" cxnId="{E25698BB-60DF-4A3F-B6AD-5819EEBE3ACA}">
      <dgm:prSet/>
      <dgm:spPr/>
      <dgm:t>
        <a:bodyPr/>
        <a:lstStyle/>
        <a:p>
          <a:endParaRPr lang="en-US"/>
        </a:p>
      </dgm:t>
    </dgm:pt>
    <dgm:pt modelId="{73C93849-6D91-4559-A48C-8FFD61EEBA0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Conclusions and future development </a:t>
          </a:r>
        </a:p>
      </dgm:t>
    </dgm:pt>
    <dgm:pt modelId="{38A48AAD-F153-4A8E-9BE1-6F56E92FC1AD}" type="parTrans" cxnId="{8C53FD7A-1632-40C1-BE02-16C981341AAD}">
      <dgm:prSet/>
      <dgm:spPr/>
      <dgm:t>
        <a:bodyPr/>
        <a:lstStyle/>
        <a:p>
          <a:endParaRPr lang="en-US"/>
        </a:p>
      </dgm:t>
    </dgm:pt>
    <dgm:pt modelId="{860B2898-22B0-436F-A40B-1889E5FC425E}" type="sibTrans" cxnId="{8C53FD7A-1632-40C1-BE02-16C981341AAD}">
      <dgm:prSet/>
      <dgm:spPr/>
      <dgm:t>
        <a:bodyPr/>
        <a:lstStyle/>
        <a:p>
          <a:endParaRPr lang="en-US"/>
        </a:p>
      </dgm:t>
    </dgm:pt>
    <dgm:pt modelId="{D73A417A-4E2B-A64D-BC60-6C1877A7DB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MLIR</a:t>
          </a:r>
          <a:r>
            <a:rPr lang="en-US" baseline="0"/>
            <a:t> And </a:t>
          </a:r>
          <a:r>
            <a:rPr lang="en-US" baseline="0" err="1"/>
            <a:t>qMLIR</a:t>
          </a:r>
          <a:endParaRPr lang="en-US" baseline="0"/>
        </a:p>
      </dgm:t>
    </dgm:pt>
    <dgm:pt modelId="{08198C07-53BD-964E-8754-4D49B1F1D13C}" type="parTrans" cxnId="{DF03A26E-8502-F347-ADA3-799A71B0DDF1}">
      <dgm:prSet/>
      <dgm:spPr/>
      <dgm:t>
        <a:bodyPr/>
        <a:lstStyle/>
        <a:p>
          <a:endParaRPr lang="en-US"/>
        </a:p>
      </dgm:t>
    </dgm:pt>
    <dgm:pt modelId="{70408689-D18A-E146-A4B8-1319010B99BC}" type="sibTrans" cxnId="{DF03A26E-8502-F347-ADA3-799A71B0DDF1}">
      <dgm:prSet/>
      <dgm:spPr/>
      <dgm:t>
        <a:bodyPr/>
        <a:lstStyle/>
        <a:p>
          <a:endParaRPr lang="en-US"/>
        </a:p>
      </dgm:t>
    </dgm:pt>
    <dgm:pt modelId="{B299ABFE-E294-2F49-A8B0-728613A63AE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Translation of C logic</a:t>
          </a:r>
        </a:p>
      </dgm:t>
    </dgm:pt>
    <dgm:pt modelId="{CDE54EE6-042C-1C42-84BA-668084D06EF4}" type="parTrans" cxnId="{3B7C42DE-DE03-1544-8571-14DD9820B999}">
      <dgm:prSet/>
      <dgm:spPr/>
      <dgm:t>
        <a:bodyPr/>
        <a:lstStyle/>
        <a:p>
          <a:endParaRPr lang="en-US"/>
        </a:p>
      </dgm:t>
    </dgm:pt>
    <dgm:pt modelId="{25D26CEE-00F1-E047-A431-6D63E9D78BC5}" type="sibTrans" cxnId="{3B7C42DE-DE03-1544-8571-14DD9820B999}">
      <dgm:prSet/>
      <dgm:spPr/>
      <dgm:t>
        <a:bodyPr/>
        <a:lstStyle/>
        <a:p>
          <a:endParaRPr lang="en-US"/>
        </a:p>
      </dgm:t>
    </dgm:pt>
    <dgm:pt modelId="{8D253026-091C-471B-A188-02822F2DFE97}" type="pres">
      <dgm:prSet presAssocID="{7CA79555-86B9-433C-8123-7072333647ED}" presName="root" presStyleCnt="0">
        <dgm:presLayoutVars>
          <dgm:dir/>
          <dgm:resizeHandles val="exact"/>
        </dgm:presLayoutVars>
      </dgm:prSet>
      <dgm:spPr/>
    </dgm:pt>
    <dgm:pt modelId="{B2F2D368-01C9-44D5-94B2-E8F7C0E18573}" type="pres">
      <dgm:prSet presAssocID="{20465215-7B7E-471A-B5EB-785CD847EB8D}" presName="compNode" presStyleCnt="0"/>
      <dgm:spPr/>
    </dgm:pt>
    <dgm:pt modelId="{9C8E60E0-5D60-4BD4-B7E4-F51B6B532F02}" type="pres">
      <dgm:prSet presAssocID="{20465215-7B7E-471A-B5EB-785CD847EB8D}" presName="iconBgRect" presStyleLbl="bgShp" presStyleIdx="0" presStyleCnt="6"/>
      <dgm:spPr>
        <a:solidFill>
          <a:srgbClr val="659BD2"/>
        </a:solidFill>
      </dgm:spPr>
    </dgm:pt>
    <dgm:pt modelId="{0C291B91-C276-4FD5-BCDA-F6F053DE5B2B}" type="pres">
      <dgm:prSet presAssocID="{20465215-7B7E-471A-B5EB-785CD847EB8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586117DC-D8C4-41AD-BC9B-C26823BEF410}" type="pres">
      <dgm:prSet presAssocID="{20465215-7B7E-471A-B5EB-785CD847EB8D}" presName="spaceRect" presStyleCnt="0"/>
      <dgm:spPr/>
    </dgm:pt>
    <dgm:pt modelId="{C98DF088-5AA5-41CF-A4F1-BC87C0760356}" type="pres">
      <dgm:prSet presAssocID="{20465215-7B7E-471A-B5EB-785CD847EB8D}" presName="textRect" presStyleLbl="revTx" presStyleIdx="0" presStyleCnt="6">
        <dgm:presLayoutVars>
          <dgm:chMax val="1"/>
          <dgm:chPref val="1"/>
        </dgm:presLayoutVars>
      </dgm:prSet>
      <dgm:spPr/>
    </dgm:pt>
    <dgm:pt modelId="{1F8758A1-86BF-41F5-B3CD-779ECC511462}" type="pres">
      <dgm:prSet presAssocID="{9428276C-1511-4B67-A399-3ABB6CC54B76}" presName="sibTrans" presStyleCnt="0"/>
      <dgm:spPr/>
    </dgm:pt>
    <dgm:pt modelId="{21A819F2-4561-4D2A-BDC0-E704B5E82A21}" type="pres">
      <dgm:prSet presAssocID="{49EAD02A-58D9-4845-B473-92E3EE9172BB}" presName="compNode" presStyleCnt="0"/>
      <dgm:spPr/>
    </dgm:pt>
    <dgm:pt modelId="{BA5266B8-166D-4BBE-A7D9-77C3F9AAFAFA}" type="pres">
      <dgm:prSet presAssocID="{49EAD02A-58D9-4845-B473-92E3EE9172BB}" presName="iconBgRect" presStyleLbl="bgShp" presStyleIdx="1" presStyleCnt="6"/>
      <dgm:spPr>
        <a:solidFill>
          <a:srgbClr val="659BD2"/>
        </a:solidFill>
      </dgm:spPr>
    </dgm:pt>
    <dgm:pt modelId="{D299F898-F167-42C4-A368-6B203D021D92}" type="pres">
      <dgm:prSet presAssocID="{49EAD02A-58D9-4845-B473-92E3EE9172B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 with solid fill"/>
        </a:ext>
      </dgm:extLst>
    </dgm:pt>
    <dgm:pt modelId="{03523443-EA1E-45E7-870D-C777FF406643}" type="pres">
      <dgm:prSet presAssocID="{49EAD02A-58D9-4845-B473-92E3EE9172BB}" presName="spaceRect" presStyleCnt="0"/>
      <dgm:spPr/>
    </dgm:pt>
    <dgm:pt modelId="{E8D94F1C-092E-47F6-B044-AD67CA601898}" type="pres">
      <dgm:prSet presAssocID="{49EAD02A-58D9-4845-B473-92E3EE9172BB}" presName="textRect" presStyleLbl="revTx" presStyleIdx="1" presStyleCnt="6">
        <dgm:presLayoutVars>
          <dgm:chMax val="1"/>
          <dgm:chPref val="1"/>
        </dgm:presLayoutVars>
      </dgm:prSet>
      <dgm:spPr/>
    </dgm:pt>
    <dgm:pt modelId="{59412EFF-CA8C-4117-BAA1-7A8D56FCE730}" type="pres">
      <dgm:prSet presAssocID="{949B8307-0DC8-4581-96E5-1F175CD6B1EF}" presName="sibTrans" presStyleCnt="0"/>
      <dgm:spPr/>
    </dgm:pt>
    <dgm:pt modelId="{FCD1465D-7E97-AE4C-A187-BF79F98E0B55}" type="pres">
      <dgm:prSet presAssocID="{D73A417A-4E2B-A64D-BC60-6C1877A7DB77}" presName="compNode" presStyleCnt="0"/>
      <dgm:spPr/>
    </dgm:pt>
    <dgm:pt modelId="{3D48DC12-6D0E-1C45-BE7B-CF3EF6BB9317}" type="pres">
      <dgm:prSet presAssocID="{D73A417A-4E2B-A64D-BC60-6C1877A7DB77}" presName="iconBgRect" presStyleLbl="bgShp" presStyleIdx="2" presStyleCnt="6"/>
      <dgm:spPr>
        <a:solidFill>
          <a:srgbClr val="659BD2"/>
        </a:solidFill>
        <a:ln>
          <a:solidFill>
            <a:srgbClr val="5EA8DB"/>
          </a:solidFill>
        </a:ln>
      </dgm:spPr>
    </dgm:pt>
    <dgm:pt modelId="{5C2B87BC-91E5-F54D-A7FB-3718810F83E3}" type="pres">
      <dgm:prSet presAssocID="{D73A417A-4E2B-A64D-BC60-6C1877A7DB7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93C313EC-F880-A949-AB46-7B3C2AE8C115}" type="pres">
      <dgm:prSet presAssocID="{D73A417A-4E2B-A64D-BC60-6C1877A7DB77}" presName="spaceRect" presStyleCnt="0"/>
      <dgm:spPr/>
    </dgm:pt>
    <dgm:pt modelId="{6ED6E8C4-51FF-E345-99A3-D22FB346F702}" type="pres">
      <dgm:prSet presAssocID="{D73A417A-4E2B-A64D-BC60-6C1877A7DB77}" presName="textRect" presStyleLbl="revTx" presStyleIdx="2" presStyleCnt="6">
        <dgm:presLayoutVars>
          <dgm:chMax val="1"/>
          <dgm:chPref val="1"/>
        </dgm:presLayoutVars>
      </dgm:prSet>
      <dgm:spPr/>
    </dgm:pt>
    <dgm:pt modelId="{BE26D80C-F180-0448-927D-04FA8F4FB063}" type="pres">
      <dgm:prSet presAssocID="{70408689-D18A-E146-A4B8-1319010B99BC}" presName="sibTrans" presStyleCnt="0"/>
      <dgm:spPr/>
    </dgm:pt>
    <dgm:pt modelId="{03FBF96C-0BC1-BB49-AFC9-AFD7FB7E9799}" type="pres">
      <dgm:prSet presAssocID="{B299ABFE-E294-2F49-A8B0-728613A63AE5}" presName="compNode" presStyleCnt="0"/>
      <dgm:spPr/>
    </dgm:pt>
    <dgm:pt modelId="{3EAA7D46-7C46-E749-B6B1-30FEC3990C3B}" type="pres">
      <dgm:prSet presAssocID="{B299ABFE-E294-2F49-A8B0-728613A63AE5}" presName="iconBgRect" presStyleLbl="bgShp" presStyleIdx="3" presStyleCnt="6"/>
      <dgm:spPr>
        <a:solidFill>
          <a:srgbClr val="659BD2"/>
        </a:solidFill>
      </dgm:spPr>
    </dgm:pt>
    <dgm:pt modelId="{301CBD35-0AEF-A84E-A021-F6698CC3083C}" type="pres">
      <dgm:prSet presAssocID="{B299ABFE-E294-2F49-A8B0-728613A63AE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et Right with solid fill"/>
        </a:ext>
      </dgm:extLst>
    </dgm:pt>
    <dgm:pt modelId="{8B1E908E-54CB-6140-A701-DCEE83F67F41}" type="pres">
      <dgm:prSet presAssocID="{B299ABFE-E294-2F49-A8B0-728613A63AE5}" presName="spaceRect" presStyleCnt="0"/>
      <dgm:spPr/>
    </dgm:pt>
    <dgm:pt modelId="{A97EE217-0E85-174B-AFCC-4BB316DDC7B9}" type="pres">
      <dgm:prSet presAssocID="{B299ABFE-E294-2F49-A8B0-728613A63AE5}" presName="textRect" presStyleLbl="revTx" presStyleIdx="3" presStyleCnt="6">
        <dgm:presLayoutVars>
          <dgm:chMax val="1"/>
          <dgm:chPref val="1"/>
        </dgm:presLayoutVars>
      </dgm:prSet>
      <dgm:spPr/>
    </dgm:pt>
    <dgm:pt modelId="{409F63D7-28D3-724C-94AD-2D1FA1651292}" type="pres">
      <dgm:prSet presAssocID="{25D26CEE-00F1-E047-A431-6D63E9D78BC5}" presName="sibTrans" presStyleCnt="0"/>
      <dgm:spPr/>
    </dgm:pt>
    <dgm:pt modelId="{58108754-6FA6-4FA0-A268-9E2DCF784ECF}" type="pres">
      <dgm:prSet presAssocID="{B2702F6B-B4DD-492B-805D-3707186C19A3}" presName="compNode" presStyleCnt="0"/>
      <dgm:spPr/>
    </dgm:pt>
    <dgm:pt modelId="{FFE9B8A3-809D-4A4A-BFB1-92128C9E40C7}" type="pres">
      <dgm:prSet presAssocID="{B2702F6B-B4DD-492B-805D-3707186C19A3}" presName="iconBgRect" presStyleLbl="bgShp" presStyleIdx="4" presStyleCnt="6"/>
      <dgm:spPr>
        <a:solidFill>
          <a:srgbClr val="659BD2"/>
        </a:solidFill>
      </dgm:spPr>
    </dgm:pt>
    <dgm:pt modelId="{C6BAE65C-1D4C-4B2D-9151-AEF8E87EA607}" type="pres">
      <dgm:prSet presAssocID="{B2702F6B-B4DD-492B-805D-3707186C19A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</dgm:pt>
    <dgm:pt modelId="{7973FCE1-AD7C-489A-8325-DF12B0979070}" type="pres">
      <dgm:prSet presAssocID="{B2702F6B-B4DD-492B-805D-3707186C19A3}" presName="spaceRect" presStyleCnt="0"/>
      <dgm:spPr/>
    </dgm:pt>
    <dgm:pt modelId="{60CF644B-451E-4966-8947-584FE632813F}" type="pres">
      <dgm:prSet presAssocID="{B2702F6B-B4DD-492B-805D-3707186C19A3}" presName="textRect" presStyleLbl="revTx" presStyleIdx="4" presStyleCnt="6">
        <dgm:presLayoutVars>
          <dgm:chMax val="1"/>
          <dgm:chPref val="1"/>
        </dgm:presLayoutVars>
      </dgm:prSet>
      <dgm:spPr/>
    </dgm:pt>
    <dgm:pt modelId="{40FA547D-4CEE-4F4A-B177-168F7DC376A4}" type="pres">
      <dgm:prSet presAssocID="{8B6D09BB-B335-4CC0-BA8C-603E6178AC9F}" presName="sibTrans" presStyleCnt="0"/>
      <dgm:spPr/>
    </dgm:pt>
    <dgm:pt modelId="{BB7D7D27-D8F7-4220-9E0E-68F32380FD80}" type="pres">
      <dgm:prSet presAssocID="{73C93849-6D91-4559-A48C-8FFD61EEBA09}" presName="compNode" presStyleCnt="0"/>
      <dgm:spPr/>
    </dgm:pt>
    <dgm:pt modelId="{DD29505D-8C05-44E2-8B93-75FAD30B4DE9}" type="pres">
      <dgm:prSet presAssocID="{73C93849-6D91-4559-A48C-8FFD61EEBA09}" presName="iconBgRect" presStyleLbl="bgShp" presStyleIdx="5" presStyleCnt="6"/>
      <dgm:spPr>
        <a:solidFill>
          <a:srgbClr val="659BD2"/>
        </a:solidFill>
      </dgm:spPr>
    </dgm:pt>
    <dgm:pt modelId="{53500D01-DED0-4BF2-8237-CDF65EBBC3DE}" type="pres">
      <dgm:prSet presAssocID="{73C93849-6D91-4559-A48C-8FFD61EEBA0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</dgm:pt>
    <dgm:pt modelId="{63C1F401-396C-4008-BF4C-AD8E754F1462}" type="pres">
      <dgm:prSet presAssocID="{73C93849-6D91-4559-A48C-8FFD61EEBA09}" presName="spaceRect" presStyleCnt="0"/>
      <dgm:spPr/>
    </dgm:pt>
    <dgm:pt modelId="{5D2DEC26-1103-4681-8B0E-0103EF3198FE}" type="pres">
      <dgm:prSet presAssocID="{73C93849-6D91-4559-A48C-8FFD61EEBA0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4BE600B-8550-BC4B-BC85-181BDB9867B9}" type="presOf" srcId="{B299ABFE-E294-2F49-A8B0-728613A63AE5}" destId="{A97EE217-0E85-174B-AFCC-4BB316DDC7B9}" srcOrd="0" destOrd="0" presId="urn:microsoft.com/office/officeart/2018/5/layout/IconCircleLabelList"/>
    <dgm:cxn modelId="{5EB13E3C-0378-A148-BAA1-78CD5C592291}" type="presOf" srcId="{B2702F6B-B4DD-492B-805D-3707186C19A3}" destId="{60CF644B-451E-4966-8947-584FE632813F}" srcOrd="0" destOrd="0" presId="urn:microsoft.com/office/officeart/2018/5/layout/IconCircleLabelList"/>
    <dgm:cxn modelId="{99A0E26D-FF16-954B-882A-434F1CD119DF}" type="presOf" srcId="{20465215-7B7E-471A-B5EB-785CD847EB8D}" destId="{C98DF088-5AA5-41CF-A4F1-BC87C0760356}" srcOrd="0" destOrd="0" presId="urn:microsoft.com/office/officeart/2018/5/layout/IconCircleLabelList"/>
    <dgm:cxn modelId="{DF03A26E-8502-F347-ADA3-799A71B0DDF1}" srcId="{7CA79555-86B9-433C-8123-7072333647ED}" destId="{D73A417A-4E2B-A64D-BC60-6C1877A7DB77}" srcOrd="2" destOrd="0" parTransId="{08198C07-53BD-964E-8754-4D49B1F1D13C}" sibTransId="{70408689-D18A-E146-A4B8-1319010B99BC}"/>
    <dgm:cxn modelId="{8C53FD7A-1632-40C1-BE02-16C981341AAD}" srcId="{7CA79555-86B9-433C-8123-7072333647ED}" destId="{73C93849-6D91-4559-A48C-8FFD61EEBA09}" srcOrd="5" destOrd="0" parTransId="{38A48AAD-F153-4A8E-9BE1-6F56E92FC1AD}" sibTransId="{860B2898-22B0-436F-A40B-1889E5FC425E}"/>
    <dgm:cxn modelId="{918D868F-97BA-48B4-8E87-45876C5D3520}" type="presOf" srcId="{7CA79555-86B9-433C-8123-7072333647ED}" destId="{8D253026-091C-471B-A188-02822F2DFE97}" srcOrd="0" destOrd="0" presId="urn:microsoft.com/office/officeart/2018/5/layout/IconCircleLabelList"/>
    <dgm:cxn modelId="{59D0B19D-0E20-B742-9589-B80B71DD95DB}" type="presOf" srcId="{73C93849-6D91-4559-A48C-8FFD61EEBA09}" destId="{5D2DEC26-1103-4681-8B0E-0103EF3198FE}" srcOrd="0" destOrd="0" presId="urn:microsoft.com/office/officeart/2018/5/layout/IconCircleLabelList"/>
    <dgm:cxn modelId="{F21BB8A5-1C04-4D9F-8F45-347ED5B75A99}" srcId="{7CA79555-86B9-433C-8123-7072333647ED}" destId="{49EAD02A-58D9-4845-B473-92E3EE9172BB}" srcOrd="1" destOrd="0" parTransId="{0FC0867F-AA5F-4CB7-A29E-E62A91D8C8C4}" sibTransId="{949B8307-0DC8-4581-96E5-1F175CD6B1EF}"/>
    <dgm:cxn modelId="{835646A8-717E-E147-A77D-F77D4A3871BC}" type="presOf" srcId="{D73A417A-4E2B-A64D-BC60-6C1877A7DB77}" destId="{6ED6E8C4-51FF-E345-99A3-D22FB346F702}" srcOrd="0" destOrd="0" presId="urn:microsoft.com/office/officeart/2018/5/layout/IconCircleLabelList"/>
    <dgm:cxn modelId="{E25698BB-60DF-4A3F-B6AD-5819EEBE3ACA}" srcId="{7CA79555-86B9-433C-8123-7072333647ED}" destId="{B2702F6B-B4DD-492B-805D-3707186C19A3}" srcOrd="4" destOrd="0" parTransId="{5B9D71EE-D0F3-4DCE-9037-DA09876CFA46}" sibTransId="{8B6D09BB-B335-4CC0-BA8C-603E6178AC9F}"/>
    <dgm:cxn modelId="{3B7C42DE-DE03-1544-8571-14DD9820B999}" srcId="{7CA79555-86B9-433C-8123-7072333647ED}" destId="{B299ABFE-E294-2F49-A8B0-728613A63AE5}" srcOrd="3" destOrd="0" parTransId="{CDE54EE6-042C-1C42-84BA-668084D06EF4}" sibTransId="{25D26CEE-00F1-E047-A431-6D63E9D78BC5}"/>
    <dgm:cxn modelId="{2E0DBCF5-0948-45BD-8064-701A5A3A6CEE}" srcId="{7CA79555-86B9-433C-8123-7072333647ED}" destId="{20465215-7B7E-471A-B5EB-785CD847EB8D}" srcOrd="0" destOrd="0" parTransId="{A1433C65-9FEA-4430-B1DF-491A9B9C35C5}" sibTransId="{9428276C-1511-4B67-A399-3ABB6CC54B76}"/>
    <dgm:cxn modelId="{D3A925F8-32A6-9D49-9BB9-06DD5A596D53}" type="presOf" srcId="{49EAD02A-58D9-4845-B473-92E3EE9172BB}" destId="{E8D94F1C-092E-47F6-B044-AD67CA601898}" srcOrd="0" destOrd="0" presId="urn:microsoft.com/office/officeart/2018/5/layout/IconCircleLabelList"/>
    <dgm:cxn modelId="{6549F22A-66AF-B941-A123-3164D2FA1BBF}" type="presParOf" srcId="{8D253026-091C-471B-A188-02822F2DFE97}" destId="{B2F2D368-01C9-44D5-94B2-E8F7C0E18573}" srcOrd="0" destOrd="0" presId="urn:microsoft.com/office/officeart/2018/5/layout/IconCircleLabelList"/>
    <dgm:cxn modelId="{F467A4A5-5851-B440-9DF9-ADF6136878A3}" type="presParOf" srcId="{B2F2D368-01C9-44D5-94B2-E8F7C0E18573}" destId="{9C8E60E0-5D60-4BD4-B7E4-F51B6B532F02}" srcOrd="0" destOrd="0" presId="urn:microsoft.com/office/officeart/2018/5/layout/IconCircleLabelList"/>
    <dgm:cxn modelId="{54C40D6A-28E4-1B46-9EEF-B409A2FD3695}" type="presParOf" srcId="{B2F2D368-01C9-44D5-94B2-E8F7C0E18573}" destId="{0C291B91-C276-4FD5-BCDA-F6F053DE5B2B}" srcOrd="1" destOrd="0" presId="urn:microsoft.com/office/officeart/2018/5/layout/IconCircleLabelList"/>
    <dgm:cxn modelId="{E3767288-DACD-9546-A025-760D88D48952}" type="presParOf" srcId="{B2F2D368-01C9-44D5-94B2-E8F7C0E18573}" destId="{586117DC-D8C4-41AD-BC9B-C26823BEF410}" srcOrd="2" destOrd="0" presId="urn:microsoft.com/office/officeart/2018/5/layout/IconCircleLabelList"/>
    <dgm:cxn modelId="{B234BF95-B33E-1E4A-8492-F139CBE49B07}" type="presParOf" srcId="{B2F2D368-01C9-44D5-94B2-E8F7C0E18573}" destId="{C98DF088-5AA5-41CF-A4F1-BC87C0760356}" srcOrd="3" destOrd="0" presId="urn:microsoft.com/office/officeart/2018/5/layout/IconCircleLabelList"/>
    <dgm:cxn modelId="{0458DBE3-310B-834A-BDC2-DB1FAE11DB51}" type="presParOf" srcId="{8D253026-091C-471B-A188-02822F2DFE97}" destId="{1F8758A1-86BF-41F5-B3CD-779ECC511462}" srcOrd="1" destOrd="0" presId="urn:microsoft.com/office/officeart/2018/5/layout/IconCircleLabelList"/>
    <dgm:cxn modelId="{D360805A-29BD-2A4E-A148-365D38247AFB}" type="presParOf" srcId="{8D253026-091C-471B-A188-02822F2DFE97}" destId="{21A819F2-4561-4D2A-BDC0-E704B5E82A21}" srcOrd="2" destOrd="0" presId="urn:microsoft.com/office/officeart/2018/5/layout/IconCircleLabelList"/>
    <dgm:cxn modelId="{CD35EEFC-6B36-FA4D-9083-F89E8B7ACC81}" type="presParOf" srcId="{21A819F2-4561-4D2A-BDC0-E704B5E82A21}" destId="{BA5266B8-166D-4BBE-A7D9-77C3F9AAFAFA}" srcOrd="0" destOrd="0" presId="urn:microsoft.com/office/officeart/2018/5/layout/IconCircleLabelList"/>
    <dgm:cxn modelId="{793C23F1-2792-634C-8606-9E964FCFA84C}" type="presParOf" srcId="{21A819F2-4561-4D2A-BDC0-E704B5E82A21}" destId="{D299F898-F167-42C4-A368-6B203D021D92}" srcOrd="1" destOrd="0" presId="urn:microsoft.com/office/officeart/2018/5/layout/IconCircleLabelList"/>
    <dgm:cxn modelId="{E84DECEA-9E4A-1947-8080-25B52523A56F}" type="presParOf" srcId="{21A819F2-4561-4D2A-BDC0-E704B5E82A21}" destId="{03523443-EA1E-45E7-870D-C777FF406643}" srcOrd="2" destOrd="0" presId="urn:microsoft.com/office/officeart/2018/5/layout/IconCircleLabelList"/>
    <dgm:cxn modelId="{09729466-3BD1-EE41-85CD-6E84FB226B94}" type="presParOf" srcId="{21A819F2-4561-4D2A-BDC0-E704B5E82A21}" destId="{E8D94F1C-092E-47F6-B044-AD67CA601898}" srcOrd="3" destOrd="0" presId="urn:microsoft.com/office/officeart/2018/5/layout/IconCircleLabelList"/>
    <dgm:cxn modelId="{F04C82D4-4559-9342-8145-186A26ED3717}" type="presParOf" srcId="{8D253026-091C-471B-A188-02822F2DFE97}" destId="{59412EFF-CA8C-4117-BAA1-7A8D56FCE730}" srcOrd="3" destOrd="0" presId="urn:microsoft.com/office/officeart/2018/5/layout/IconCircleLabelList"/>
    <dgm:cxn modelId="{6C50BF47-305C-A645-95A6-8D6DE0F0D9FF}" type="presParOf" srcId="{8D253026-091C-471B-A188-02822F2DFE97}" destId="{FCD1465D-7E97-AE4C-A187-BF79F98E0B55}" srcOrd="4" destOrd="0" presId="urn:microsoft.com/office/officeart/2018/5/layout/IconCircleLabelList"/>
    <dgm:cxn modelId="{813AD598-7960-D448-BDF1-56FCB2D73F7D}" type="presParOf" srcId="{FCD1465D-7E97-AE4C-A187-BF79F98E0B55}" destId="{3D48DC12-6D0E-1C45-BE7B-CF3EF6BB9317}" srcOrd="0" destOrd="0" presId="urn:microsoft.com/office/officeart/2018/5/layout/IconCircleLabelList"/>
    <dgm:cxn modelId="{2C1A488C-5A3D-C445-B7B2-FE0B24FE9AAC}" type="presParOf" srcId="{FCD1465D-7E97-AE4C-A187-BF79F98E0B55}" destId="{5C2B87BC-91E5-F54D-A7FB-3718810F83E3}" srcOrd="1" destOrd="0" presId="urn:microsoft.com/office/officeart/2018/5/layout/IconCircleLabelList"/>
    <dgm:cxn modelId="{778460C7-C852-A048-B0C9-5A443E49D6A2}" type="presParOf" srcId="{FCD1465D-7E97-AE4C-A187-BF79F98E0B55}" destId="{93C313EC-F880-A949-AB46-7B3C2AE8C115}" srcOrd="2" destOrd="0" presId="urn:microsoft.com/office/officeart/2018/5/layout/IconCircleLabelList"/>
    <dgm:cxn modelId="{04582428-3A6F-0149-BFAB-BD110402A1C7}" type="presParOf" srcId="{FCD1465D-7E97-AE4C-A187-BF79F98E0B55}" destId="{6ED6E8C4-51FF-E345-99A3-D22FB346F702}" srcOrd="3" destOrd="0" presId="urn:microsoft.com/office/officeart/2018/5/layout/IconCircleLabelList"/>
    <dgm:cxn modelId="{16120A12-2FF0-B640-88F0-9EE40FBE2F4A}" type="presParOf" srcId="{8D253026-091C-471B-A188-02822F2DFE97}" destId="{BE26D80C-F180-0448-927D-04FA8F4FB063}" srcOrd="5" destOrd="0" presId="urn:microsoft.com/office/officeart/2018/5/layout/IconCircleLabelList"/>
    <dgm:cxn modelId="{C36F1507-3483-DC4A-8416-3E751918EF85}" type="presParOf" srcId="{8D253026-091C-471B-A188-02822F2DFE97}" destId="{03FBF96C-0BC1-BB49-AFC9-AFD7FB7E9799}" srcOrd="6" destOrd="0" presId="urn:microsoft.com/office/officeart/2018/5/layout/IconCircleLabelList"/>
    <dgm:cxn modelId="{A03CC3FF-49C2-2D44-9A26-FA25B3975B62}" type="presParOf" srcId="{03FBF96C-0BC1-BB49-AFC9-AFD7FB7E9799}" destId="{3EAA7D46-7C46-E749-B6B1-30FEC3990C3B}" srcOrd="0" destOrd="0" presId="urn:microsoft.com/office/officeart/2018/5/layout/IconCircleLabelList"/>
    <dgm:cxn modelId="{557E0B1E-D5C3-8647-BB49-1B5EA519D517}" type="presParOf" srcId="{03FBF96C-0BC1-BB49-AFC9-AFD7FB7E9799}" destId="{301CBD35-0AEF-A84E-A021-F6698CC3083C}" srcOrd="1" destOrd="0" presId="urn:microsoft.com/office/officeart/2018/5/layout/IconCircleLabelList"/>
    <dgm:cxn modelId="{D001F831-2D3A-C447-BA1D-583050E5903B}" type="presParOf" srcId="{03FBF96C-0BC1-BB49-AFC9-AFD7FB7E9799}" destId="{8B1E908E-54CB-6140-A701-DCEE83F67F41}" srcOrd="2" destOrd="0" presId="urn:microsoft.com/office/officeart/2018/5/layout/IconCircleLabelList"/>
    <dgm:cxn modelId="{E04CF210-05C8-6548-A6AD-514EEABB3EAC}" type="presParOf" srcId="{03FBF96C-0BC1-BB49-AFC9-AFD7FB7E9799}" destId="{A97EE217-0E85-174B-AFCC-4BB316DDC7B9}" srcOrd="3" destOrd="0" presId="urn:microsoft.com/office/officeart/2018/5/layout/IconCircleLabelList"/>
    <dgm:cxn modelId="{1C930AEC-2067-AE4C-BAA0-4130D4398AA5}" type="presParOf" srcId="{8D253026-091C-471B-A188-02822F2DFE97}" destId="{409F63D7-28D3-724C-94AD-2D1FA1651292}" srcOrd="7" destOrd="0" presId="urn:microsoft.com/office/officeart/2018/5/layout/IconCircleLabelList"/>
    <dgm:cxn modelId="{55449A0F-9D4A-F848-B8FC-EADE33076971}" type="presParOf" srcId="{8D253026-091C-471B-A188-02822F2DFE97}" destId="{58108754-6FA6-4FA0-A268-9E2DCF784ECF}" srcOrd="8" destOrd="0" presId="urn:microsoft.com/office/officeart/2018/5/layout/IconCircleLabelList"/>
    <dgm:cxn modelId="{0D9CC956-96F9-9B43-A73A-D4D625F9ECBE}" type="presParOf" srcId="{58108754-6FA6-4FA0-A268-9E2DCF784ECF}" destId="{FFE9B8A3-809D-4A4A-BFB1-92128C9E40C7}" srcOrd="0" destOrd="0" presId="urn:microsoft.com/office/officeart/2018/5/layout/IconCircleLabelList"/>
    <dgm:cxn modelId="{ABBAE0EB-ADDB-E34C-8582-C9FB052705F3}" type="presParOf" srcId="{58108754-6FA6-4FA0-A268-9E2DCF784ECF}" destId="{C6BAE65C-1D4C-4B2D-9151-AEF8E87EA607}" srcOrd="1" destOrd="0" presId="urn:microsoft.com/office/officeart/2018/5/layout/IconCircleLabelList"/>
    <dgm:cxn modelId="{7A4A5919-EEFC-ED4B-916E-DCE38481A7BC}" type="presParOf" srcId="{58108754-6FA6-4FA0-A268-9E2DCF784ECF}" destId="{7973FCE1-AD7C-489A-8325-DF12B0979070}" srcOrd="2" destOrd="0" presId="urn:microsoft.com/office/officeart/2018/5/layout/IconCircleLabelList"/>
    <dgm:cxn modelId="{124584BB-744F-714B-8980-B498FC6C07E4}" type="presParOf" srcId="{58108754-6FA6-4FA0-A268-9E2DCF784ECF}" destId="{60CF644B-451E-4966-8947-584FE632813F}" srcOrd="3" destOrd="0" presId="urn:microsoft.com/office/officeart/2018/5/layout/IconCircleLabelList"/>
    <dgm:cxn modelId="{A9EA9B25-EF2A-E34C-A3DF-A99DE8BA073D}" type="presParOf" srcId="{8D253026-091C-471B-A188-02822F2DFE97}" destId="{40FA547D-4CEE-4F4A-B177-168F7DC376A4}" srcOrd="9" destOrd="0" presId="urn:microsoft.com/office/officeart/2018/5/layout/IconCircleLabelList"/>
    <dgm:cxn modelId="{64F0E766-33E4-0240-8372-E0544182766E}" type="presParOf" srcId="{8D253026-091C-471B-A188-02822F2DFE97}" destId="{BB7D7D27-D8F7-4220-9E0E-68F32380FD80}" srcOrd="10" destOrd="0" presId="urn:microsoft.com/office/officeart/2018/5/layout/IconCircleLabelList"/>
    <dgm:cxn modelId="{61EAFFC3-40C4-F54C-85A6-2338571123D4}" type="presParOf" srcId="{BB7D7D27-D8F7-4220-9E0E-68F32380FD80}" destId="{DD29505D-8C05-44E2-8B93-75FAD30B4DE9}" srcOrd="0" destOrd="0" presId="urn:microsoft.com/office/officeart/2018/5/layout/IconCircleLabelList"/>
    <dgm:cxn modelId="{5F7B1CA6-9696-274A-B13A-5BE383C75E10}" type="presParOf" srcId="{BB7D7D27-D8F7-4220-9E0E-68F32380FD80}" destId="{53500D01-DED0-4BF2-8237-CDF65EBBC3DE}" srcOrd="1" destOrd="0" presId="urn:microsoft.com/office/officeart/2018/5/layout/IconCircleLabelList"/>
    <dgm:cxn modelId="{91D5D9C0-6813-434C-855D-EF2A022A5F50}" type="presParOf" srcId="{BB7D7D27-D8F7-4220-9E0E-68F32380FD80}" destId="{63C1F401-396C-4008-BF4C-AD8E754F1462}" srcOrd="2" destOrd="0" presId="urn:microsoft.com/office/officeart/2018/5/layout/IconCircleLabelList"/>
    <dgm:cxn modelId="{FB4444CC-41F7-0E4C-8A10-8D506BADFAEA}" type="presParOf" srcId="{BB7D7D27-D8F7-4220-9E0E-68F32380FD80}" destId="{5D2DEC26-1103-4681-8B0E-0103EF3198F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129FCB-121B-4884-972E-DD3F74516BA0}" type="doc">
      <dgm:prSet loTypeId="urn:microsoft.com/office/officeart/2005/8/layout/chevron1" loCatId="icon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07D4E78D-447F-4916-97F5-41AA5526B9CD}">
      <dgm:prSet/>
      <dgm:spPr/>
      <dgm:t>
        <a:bodyPr/>
        <a:lstStyle/>
        <a:p>
          <a:r>
            <a:rPr lang="en-US"/>
            <a:t> C Parsing and AST Generation</a:t>
          </a:r>
        </a:p>
      </dgm:t>
    </dgm:pt>
    <dgm:pt modelId="{A80405A5-293C-4FBA-A64F-694362C136FE}" type="parTrans" cxnId="{67E65134-984B-43AA-88B4-5A27C0CB8362}">
      <dgm:prSet/>
      <dgm:spPr/>
      <dgm:t>
        <a:bodyPr/>
        <a:lstStyle/>
        <a:p>
          <a:endParaRPr lang="en-US"/>
        </a:p>
      </dgm:t>
    </dgm:pt>
    <dgm:pt modelId="{7620971F-4F59-41D9-9641-DE232CB56200}" type="sibTrans" cxnId="{67E65134-984B-43AA-88B4-5A27C0CB8362}">
      <dgm:prSet/>
      <dgm:spPr/>
      <dgm:t>
        <a:bodyPr/>
        <a:lstStyle/>
        <a:p>
          <a:endParaRPr lang="en-US"/>
        </a:p>
      </dgm:t>
    </dgm:pt>
    <dgm:pt modelId="{49123E35-4520-4BCA-9AC0-D7080FC1B567}">
      <dgm:prSet/>
      <dgm:spPr/>
      <dgm:t>
        <a:bodyPr/>
        <a:lstStyle/>
        <a:p>
          <a:r>
            <a:rPr lang="en-US"/>
            <a:t>AST Normalization to </a:t>
          </a:r>
          <a:r>
            <a:rPr lang="en-US" err="1"/>
            <a:t>Dataclasses</a:t>
          </a:r>
          <a:endParaRPr lang="en-US"/>
        </a:p>
      </dgm:t>
    </dgm:pt>
    <dgm:pt modelId="{F2D23395-18D6-4459-AFDE-DC7A5A841974}" type="parTrans" cxnId="{DF59EE0A-AB9F-4DD3-9BCC-B4D44BD64102}">
      <dgm:prSet/>
      <dgm:spPr/>
      <dgm:t>
        <a:bodyPr/>
        <a:lstStyle/>
        <a:p>
          <a:endParaRPr lang="en-US"/>
        </a:p>
      </dgm:t>
    </dgm:pt>
    <dgm:pt modelId="{BF9AFBB5-FECF-477C-8B73-29D24283E53F}" type="sibTrans" cxnId="{DF59EE0A-AB9F-4DD3-9BCC-B4D44BD64102}">
      <dgm:prSet/>
      <dgm:spPr/>
      <dgm:t>
        <a:bodyPr/>
        <a:lstStyle/>
        <a:p>
          <a:endParaRPr lang="en-US"/>
        </a:p>
      </dgm:t>
    </dgm:pt>
    <dgm:pt modelId="{3D1DFFF5-6F18-46A4-8E80-F765B30FD614}">
      <dgm:prSet/>
      <dgm:spPr/>
      <dgm:t>
        <a:bodyPr/>
        <a:lstStyle/>
        <a:p>
          <a:r>
            <a:rPr lang="en-US"/>
            <a:t>Classical IR: SSA-Based Representation</a:t>
          </a:r>
        </a:p>
      </dgm:t>
    </dgm:pt>
    <dgm:pt modelId="{EE1B041D-CDD9-426F-A13D-22145B7A6D6E}" type="parTrans" cxnId="{B6B16792-B2C7-479D-BF70-1DD85280FCC0}">
      <dgm:prSet/>
      <dgm:spPr/>
      <dgm:t>
        <a:bodyPr/>
        <a:lstStyle/>
        <a:p>
          <a:endParaRPr lang="en-US"/>
        </a:p>
      </dgm:t>
    </dgm:pt>
    <dgm:pt modelId="{5488104D-94D8-4FEE-932F-1BA56025E343}" type="sibTrans" cxnId="{B6B16792-B2C7-479D-BF70-1DD85280FCC0}">
      <dgm:prSet/>
      <dgm:spPr/>
      <dgm:t>
        <a:bodyPr/>
        <a:lstStyle/>
        <a:p>
          <a:endParaRPr lang="en-US"/>
        </a:p>
      </dgm:t>
    </dgm:pt>
    <dgm:pt modelId="{BD04D796-3707-4D20-8EC1-DEFABE4BA72E}">
      <dgm:prSet/>
      <dgm:spPr/>
      <dgm:t>
        <a:bodyPr/>
        <a:lstStyle/>
        <a:p>
          <a:r>
            <a:rPr lang="en-US"/>
            <a:t>Quantum IR: Semantics and Constraint Compliance</a:t>
          </a:r>
        </a:p>
      </dgm:t>
    </dgm:pt>
    <dgm:pt modelId="{8E25EA88-1EE2-4BEE-AF9E-2277C94C7D13}" type="parTrans" cxnId="{74B7FCEF-21EF-4F29-BE20-C83A0730FAB2}">
      <dgm:prSet/>
      <dgm:spPr/>
      <dgm:t>
        <a:bodyPr/>
        <a:lstStyle/>
        <a:p>
          <a:endParaRPr lang="en-US"/>
        </a:p>
      </dgm:t>
    </dgm:pt>
    <dgm:pt modelId="{83149E00-BCDC-4B89-991A-1B44AAFC4DC4}" type="sibTrans" cxnId="{74B7FCEF-21EF-4F29-BE20-C83A0730FAB2}">
      <dgm:prSet/>
      <dgm:spPr/>
      <dgm:t>
        <a:bodyPr/>
        <a:lstStyle/>
        <a:p>
          <a:endParaRPr lang="en-US"/>
        </a:p>
      </dgm:t>
    </dgm:pt>
    <dgm:pt modelId="{889D8111-92C7-4436-A09E-DF928B9AB026}">
      <dgm:prSet/>
      <dgm:spPr/>
      <dgm:t>
        <a:bodyPr/>
        <a:lstStyle/>
        <a:p>
          <a:r>
            <a:rPr lang="en-US"/>
            <a:t>Backend Lowering: QASM Generation</a:t>
          </a:r>
        </a:p>
      </dgm:t>
    </dgm:pt>
    <dgm:pt modelId="{6BF980BD-F0B4-42DA-ABB9-37C403293606}" type="parTrans" cxnId="{5D75F416-24BA-4788-8102-2CB6D5A4237E}">
      <dgm:prSet/>
      <dgm:spPr/>
      <dgm:t>
        <a:bodyPr/>
        <a:lstStyle/>
        <a:p>
          <a:endParaRPr lang="en-US"/>
        </a:p>
      </dgm:t>
    </dgm:pt>
    <dgm:pt modelId="{0D0762AC-28D7-49E3-B951-4751DD1710F1}" type="sibTrans" cxnId="{5D75F416-24BA-4788-8102-2CB6D5A4237E}">
      <dgm:prSet/>
      <dgm:spPr/>
      <dgm:t>
        <a:bodyPr/>
        <a:lstStyle/>
        <a:p>
          <a:endParaRPr lang="en-US"/>
        </a:p>
      </dgm:t>
    </dgm:pt>
    <dgm:pt modelId="{1D21BAB1-73A7-444B-B70D-CF38B931D96A}" type="pres">
      <dgm:prSet presAssocID="{59129FCB-121B-4884-972E-DD3F74516BA0}" presName="Name0" presStyleCnt="0">
        <dgm:presLayoutVars>
          <dgm:dir/>
          <dgm:animLvl val="lvl"/>
          <dgm:resizeHandles val="exact"/>
        </dgm:presLayoutVars>
      </dgm:prSet>
      <dgm:spPr/>
    </dgm:pt>
    <dgm:pt modelId="{AE5BBD37-CBA1-C743-B5B2-7F4679D182F2}" type="pres">
      <dgm:prSet presAssocID="{07D4E78D-447F-4916-97F5-41AA5526B9C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3472C083-8F66-404A-9530-5C142124C372}" type="pres">
      <dgm:prSet presAssocID="{7620971F-4F59-41D9-9641-DE232CB56200}" presName="parTxOnlySpace" presStyleCnt="0"/>
      <dgm:spPr/>
    </dgm:pt>
    <dgm:pt modelId="{42199EC5-704F-2E48-B300-7B9BF3B50118}" type="pres">
      <dgm:prSet presAssocID="{49123E35-4520-4BCA-9AC0-D7080FC1B567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37C4CEA4-F768-8948-9652-EA94163DDE72}" type="pres">
      <dgm:prSet presAssocID="{BF9AFBB5-FECF-477C-8B73-29D24283E53F}" presName="parTxOnlySpace" presStyleCnt="0"/>
      <dgm:spPr/>
    </dgm:pt>
    <dgm:pt modelId="{A88DC44B-0F05-0A42-B736-C180CF356385}" type="pres">
      <dgm:prSet presAssocID="{3D1DFFF5-6F18-46A4-8E80-F765B30FD614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82E38A02-A37A-784D-B861-ADBC8C7BF91C}" type="pres">
      <dgm:prSet presAssocID="{5488104D-94D8-4FEE-932F-1BA56025E343}" presName="parTxOnlySpace" presStyleCnt="0"/>
      <dgm:spPr/>
    </dgm:pt>
    <dgm:pt modelId="{59A78C75-A592-0040-98CD-BFF658DAC7EF}" type="pres">
      <dgm:prSet presAssocID="{BD04D796-3707-4D20-8EC1-DEFABE4BA72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C4E8597-20BF-2E44-B142-C8BEA792208C}" type="pres">
      <dgm:prSet presAssocID="{83149E00-BCDC-4B89-991A-1B44AAFC4DC4}" presName="parTxOnlySpace" presStyleCnt="0"/>
      <dgm:spPr/>
    </dgm:pt>
    <dgm:pt modelId="{AE565D43-5969-924D-AFB0-C8B3A51D8B36}" type="pres">
      <dgm:prSet presAssocID="{889D8111-92C7-4436-A09E-DF928B9AB026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F59EE0A-AB9F-4DD3-9BCC-B4D44BD64102}" srcId="{59129FCB-121B-4884-972E-DD3F74516BA0}" destId="{49123E35-4520-4BCA-9AC0-D7080FC1B567}" srcOrd="1" destOrd="0" parTransId="{F2D23395-18D6-4459-AFDE-DC7A5A841974}" sibTransId="{BF9AFBB5-FECF-477C-8B73-29D24283E53F}"/>
    <dgm:cxn modelId="{5D75F416-24BA-4788-8102-2CB6D5A4237E}" srcId="{59129FCB-121B-4884-972E-DD3F74516BA0}" destId="{889D8111-92C7-4436-A09E-DF928B9AB026}" srcOrd="4" destOrd="0" parTransId="{6BF980BD-F0B4-42DA-ABB9-37C403293606}" sibTransId="{0D0762AC-28D7-49E3-B951-4751DD1710F1}"/>
    <dgm:cxn modelId="{67E65134-984B-43AA-88B4-5A27C0CB8362}" srcId="{59129FCB-121B-4884-972E-DD3F74516BA0}" destId="{07D4E78D-447F-4916-97F5-41AA5526B9CD}" srcOrd="0" destOrd="0" parTransId="{A80405A5-293C-4FBA-A64F-694362C136FE}" sibTransId="{7620971F-4F59-41D9-9641-DE232CB56200}"/>
    <dgm:cxn modelId="{6EE0A15B-6452-BD4B-922C-54E7F730B5D7}" type="presOf" srcId="{889D8111-92C7-4436-A09E-DF928B9AB026}" destId="{AE565D43-5969-924D-AFB0-C8B3A51D8B36}" srcOrd="0" destOrd="0" presId="urn:microsoft.com/office/officeart/2005/8/layout/chevron1"/>
    <dgm:cxn modelId="{AA708587-2998-9C45-828D-FC41028A1FCF}" type="presOf" srcId="{59129FCB-121B-4884-972E-DD3F74516BA0}" destId="{1D21BAB1-73A7-444B-B70D-CF38B931D96A}" srcOrd="0" destOrd="0" presId="urn:microsoft.com/office/officeart/2005/8/layout/chevron1"/>
    <dgm:cxn modelId="{B6B16792-B2C7-479D-BF70-1DD85280FCC0}" srcId="{59129FCB-121B-4884-972E-DD3F74516BA0}" destId="{3D1DFFF5-6F18-46A4-8E80-F765B30FD614}" srcOrd="2" destOrd="0" parTransId="{EE1B041D-CDD9-426F-A13D-22145B7A6D6E}" sibTransId="{5488104D-94D8-4FEE-932F-1BA56025E343}"/>
    <dgm:cxn modelId="{CE426FA4-DEA3-2148-9BB0-F2ACE0309ED5}" type="presOf" srcId="{3D1DFFF5-6F18-46A4-8E80-F765B30FD614}" destId="{A88DC44B-0F05-0A42-B736-C180CF356385}" srcOrd="0" destOrd="0" presId="urn:microsoft.com/office/officeart/2005/8/layout/chevron1"/>
    <dgm:cxn modelId="{C1A252CD-3B76-8440-8C1E-C264CF808EE8}" type="presOf" srcId="{BD04D796-3707-4D20-8EC1-DEFABE4BA72E}" destId="{59A78C75-A592-0040-98CD-BFF658DAC7EF}" srcOrd="0" destOrd="0" presId="urn:microsoft.com/office/officeart/2005/8/layout/chevron1"/>
    <dgm:cxn modelId="{74B7FCEF-21EF-4F29-BE20-C83A0730FAB2}" srcId="{59129FCB-121B-4884-972E-DD3F74516BA0}" destId="{BD04D796-3707-4D20-8EC1-DEFABE4BA72E}" srcOrd="3" destOrd="0" parTransId="{8E25EA88-1EE2-4BEE-AF9E-2277C94C7D13}" sibTransId="{83149E00-BCDC-4B89-991A-1B44AAFC4DC4}"/>
    <dgm:cxn modelId="{EB6015F4-0F2E-4740-9F6D-DA77D1DE3AF9}" type="presOf" srcId="{49123E35-4520-4BCA-9AC0-D7080FC1B567}" destId="{42199EC5-704F-2E48-B300-7B9BF3B50118}" srcOrd="0" destOrd="0" presId="urn:microsoft.com/office/officeart/2005/8/layout/chevron1"/>
    <dgm:cxn modelId="{48AF70F6-31BC-E34D-99EC-D60EF3D157C2}" type="presOf" srcId="{07D4E78D-447F-4916-97F5-41AA5526B9CD}" destId="{AE5BBD37-CBA1-C743-B5B2-7F4679D182F2}" srcOrd="0" destOrd="0" presId="urn:microsoft.com/office/officeart/2005/8/layout/chevron1"/>
    <dgm:cxn modelId="{A75EB754-B96B-D344-8CA6-697653752BA6}" type="presParOf" srcId="{1D21BAB1-73A7-444B-B70D-CF38B931D96A}" destId="{AE5BBD37-CBA1-C743-B5B2-7F4679D182F2}" srcOrd="0" destOrd="0" presId="urn:microsoft.com/office/officeart/2005/8/layout/chevron1"/>
    <dgm:cxn modelId="{E1B5428F-EC9F-F14A-BE88-2D59F9C048BB}" type="presParOf" srcId="{1D21BAB1-73A7-444B-B70D-CF38B931D96A}" destId="{3472C083-8F66-404A-9530-5C142124C372}" srcOrd="1" destOrd="0" presId="urn:microsoft.com/office/officeart/2005/8/layout/chevron1"/>
    <dgm:cxn modelId="{1A07C7B7-C4B0-F24A-8011-0F3F8DFB9BF0}" type="presParOf" srcId="{1D21BAB1-73A7-444B-B70D-CF38B931D96A}" destId="{42199EC5-704F-2E48-B300-7B9BF3B50118}" srcOrd="2" destOrd="0" presId="urn:microsoft.com/office/officeart/2005/8/layout/chevron1"/>
    <dgm:cxn modelId="{203C4709-545F-1B4F-A343-F120F154C7FE}" type="presParOf" srcId="{1D21BAB1-73A7-444B-B70D-CF38B931D96A}" destId="{37C4CEA4-F768-8948-9652-EA94163DDE72}" srcOrd="3" destOrd="0" presId="urn:microsoft.com/office/officeart/2005/8/layout/chevron1"/>
    <dgm:cxn modelId="{9E23AB72-68A8-B543-A7BE-8C5D47DD0CAC}" type="presParOf" srcId="{1D21BAB1-73A7-444B-B70D-CF38B931D96A}" destId="{A88DC44B-0F05-0A42-B736-C180CF356385}" srcOrd="4" destOrd="0" presId="urn:microsoft.com/office/officeart/2005/8/layout/chevron1"/>
    <dgm:cxn modelId="{059389F6-8A7F-9847-9143-3F93374865AE}" type="presParOf" srcId="{1D21BAB1-73A7-444B-B70D-CF38B931D96A}" destId="{82E38A02-A37A-784D-B861-ADBC8C7BF91C}" srcOrd="5" destOrd="0" presId="urn:microsoft.com/office/officeart/2005/8/layout/chevron1"/>
    <dgm:cxn modelId="{624373DE-D53C-D348-B9DB-E0C764F6BE76}" type="presParOf" srcId="{1D21BAB1-73A7-444B-B70D-CF38B931D96A}" destId="{59A78C75-A592-0040-98CD-BFF658DAC7EF}" srcOrd="6" destOrd="0" presId="urn:microsoft.com/office/officeart/2005/8/layout/chevron1"/>
    <dgm:cxn modelId="{AA2B6C4A-7113-A043-B774-BB8712EE893A}" type="presParOf" srcId="{1D21BAB1-73A7-444B-B70D-CF38B931D96A}" destId="{1C4E8597-20BF-2E44-B142-C8BEA792208C}" srcOrd="7" destOrd="0" presId="urn:microsoft.com/office/officeart/2005/8/layout/chevron1"/>
    <dgm:cxn modelId="{B41C90EB-64E3-364C-883C-E95BA0F5453B}" type="presParOf" srcId="{1D21BAB1-73A7-444B-B70D-CF38B931D96A}" destId="{AE565D43-5969-924D-AFB0-C8B3A51D8B36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129FCB-121B-4884-972E-DD3F74516BA0}" type="doc">
      <dgm:prSet loTypeId="urn:microsoft.com/office/officeart/2005/8/layout/chevron1" loCatId="icon" qsTypeId="urn:microsoft.com/office/officeart/2005/8/quickstyle/simple1" qsCatId="simple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49123E35-4520-4BCA-9AC0-D7080FC1B567}">
      <dgm:prSet/>
      <dgm:spPr/>
      <dgm:t>
        <a:bodyPr/>
        <a:lstStyle/>
        <a:p>
          <a:r>
            <a:rPr lang="en-US"/>
            <a:t>AST Normalization to </a:t>
          </a:r>
          <a:r>
            <a:rPr lang="en-US" err="1"/>
            <a:t>Dataclasses</a:t>
          </a:r>
          <a:endParaRPr lang="en-US"/>
        </a:p>
      </dgm:t>
    </dgm:pt>
    <dgm:pt modelId="{F2D23395-18D6-4459-AFDE-DC7A5A841974}" type="parTrans" cxnId="{DF59EE0A-AB9F-4DD3-9BCC-B4D44BD64102}">
      <dgm:prSet/>
      <dgm:spPr/>
      <dgm:t>
        <a:bodyPr/>
        <a:lstStyle/>
        <a:p>
          <a:endParaRPr lang="en-US"/>
        </a:p>
      </dgm:t>
    </dgm:pt>
    <dgm:pt modelId="{BF9AFBB5-FECF-477C-8B73-29D24283E53F}" type="sibTrans" cxnId="{DF59EE0A-AB9F-4DD3-9BCC-B4D44BD64102}">
      <dgm:prSet/>
      <dgm:spPr/>
      <dgm:t>
        <a:bodyPr/>
        <a:lstStyle/>
        <a:p>
          <a:endParaRPr lang="en-US"/>
        </a:p>
      </dgm:t>
    </dgm:pt>
    <dgm:pt modelId="{3D1DFFF5-6F18-46A4-8E80-F765B30FD614}">
      <dgm:prSet/>
      <dgm:spPr/>
      <dgm:t>
        <a:bodyPr/>
        <a:lstStyle/>
        <a:p>
          <a:r>
            <a:rPr lang="en-US"/>
            <a:t>Classical IR: SSA-Based Representation</a:t>
          </a:r>
        </a:p>
      </dgm:t>
    </dgm:pt>
    <dgm:pt modelId="{EE1B041D-CDD9-426F-A13D-22145B7A6D6E}" type="parTrans" cxnId="{B6B16792-B2C7-479D-BF70-1DD85280FCC0}">
      <dgm:prSet/>
      <dgm:spPr/>
      <dgm:t>
        <a:bodyPr/>
        <a:lstStyle/>
        <a:p>
          <a:endParaRPr lang="en-US"/>
        </a:p>
      </dgm:t>
    </dgm:pt>
    <dgm:pt modelId="{5488104D-94D8-4FEE-932F-1BA56025E343}" type="sibTrans" cxnId="{B6B16792-B2C7-479D-BF70-1DD85280FCC0}">
      <dgm:prSet/>
      <dgm:spPr/>
      <dgm:t>
        <a:bodyPr/>
        <a:lstStyle/>
        <a:p>
          <a:endParaRPr lang="en-US"/>
        </a:p>
      </dgm:t>
    </dgm:pt>
    <dgm:pt modelId="{BD04D796-3707-4D20-8EC1-DEFABE4BA72E}">
      <dgm:prSet/>
      <dgm:spPr/>
      <dgm:t>
        <a:bodyPr/>
        <a:lstStyle/>
        <a:p>
          <a:r>
            <a:rPr lang="en-US"/>
            <a:t>Quantum IR: Semantics and Constraint Compliance</a:t>
          </a:r>
        </a:p>
      </dgm:t>
    </dgm:pt>
    <dgm:pt modelId="{8E25EA88-1EE2-4BEE-AF9E-2277C94C7D13}" type="parTrans" cxnId="{74B7FCEF-21EF-4F29-BE20-C83A0730FAB2}">
      <dgm:prSet/>
      <dgm:spPr/>
      <dgm:t>
        <a:bodyPr/>
        <a:lstStyle/>
        <a:p>
          <a:endParaRPr lang="en-US"/>
        </a:p>
      </dgm:t>
    </dgm:pt>
    <dgm:pt modelId="{83149E00-BCDC-4B89-991A-1B44AAFC4DC4}" type="sibTrans" cxnId="{74B7FCEF-21EF-4F29-BE20-C83A0730FAB2}">
      <dgm:prSet/>
      <dgm:spPr/>
      <dgm:t>
        <a:bodyPr/>
        <a:lstStyle/>
        <a:p>
          <a:endParaRPr lang="en-US"/>
        </a:p>
      </dgm:t>
    </dgm:pt>
    <dgm:pt modelId="{1D21BAB1-73A7-444B-B70D-CF38B931D96A}" type="pres">
      <dgm:prSet presAssocID="{59129FCB-121B-4884-972E-DD3F74516BA0}" presName="Name0" presStyleCnt="0">
        <dgm:presLayoutVars>
          <dgm:dir/>
          <dgm:animLvl val="lvl"/>
          <dgm:resizeHandles val="exact"/>
        </dgm:presLayoutVars>
      </dgm:prSet>
      <dgm:spPr/>
    </dgm:pt>
    <dgm:pt modelId="{42199EC5-704F-2E48-B300-7B9BF3B50118}" type="pres">
      <dgm:prSet presAssocID="{49123E35-4520-4BCA-9AC0-D7080FC1B567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7C4CEA4-F768-8948-9652-EA94163DDE72}" type="pres">
      <dgm:prSet presAssocID="{BF9AFBB5-FECF-477C-8B73-29D24283E53F}" presName="parTxOnlySpace" presStyleCnt="0"/>
      <dgm:spPr/>
    </dgm:pt>
    <dgm:pt modelId="{A88DC44B-0F05-0A42-B736-C180CF356385}" type="pres">
      <dgm:prSet presAssocID="{3D1DFFF5-6F18-46A4-8E80-F765B30FD61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2E38A02-A37A-784D-B861-ADBC8C7BF91C}" type="pres">
      <dgm:prSet presAssocID="{5488104D-94D8-4FEE-932F-1BA56025E343}" presName="parTxOnlySpace" presStyleCnt="0"/>
      <dgm:spPr/>
    </dgm:pt>
    <dgm:pt modelId="{59A78C75-A592-0040-98CD-BFF658DAC7EF}" type="pres">
      <dgm:prSet presAssocID="{BD04D796-3707-4D20-8EC1-DEFABE4BA72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F59EE0A-AB9F-4DD3-9BCC-B4D44BD64102}" srcId="{59129FCB-121B-4884-972E-DD3F74516BA0}" destId="{49123E35-4520-4BCA-9AC0-D7080FC1B567}" srcOrd="0" destOrd="0" parTransId="{F2D23395-18D6-4459-AFDE-DC7A5A841974}" sibTransId="{BF9AFBB5-FECF-477C-8B73-29D24283E53F}"/>
    <dgm:cxn modelId="{AA708587-2998-9C45-828D-FC41028A1FCF}" type="presOf" srcId="{59129FCB-121B-4884-972E-DD3F74516BA0}" destId="{1D21BAB1-73A7-444B-B70D-CF38B931D96A}" srcOrd="0" destOrd="0" presId="urn:microsoft.com/office/officeart/2005/8/layout/chevron1"/>
    <dgm:cxn modelId="{B6B16792-B2C7-479D-BF70-1DD85280FCC0}" srcId="{59129FCB-121B-4884-972E-DD3F74516BA0}" destId="{3D1DFFF5-6F18-46A4-8E80-F765B30FD614}" srcOrd="1" destOrd="0" parTransId="{EE1B041D-CDD9-426F-A13D-22145B7A6D6E}" sibTransId="{5488104D-94D8-4FEE-932F-1BA56025E343}"/>
    <dgm:cxn modelId="{CE426FA4-DEA3-2148-9BB0-F2ACE0309ED5}" type="presOf" srcId="{3D1DFFF5-6F18-46A4-8E80-F765B30FD614}" destId="{A88DC44B-0F05-0A42-B736-C180CF356385}" srcOrd="0" destOrd="0" presId="urn:microsoft.com/office/officeart/2005/8/layout/chevron1"/>
    <dgm:cxn modelId="{C1A252CD-3B76-8440-8C1E-C264CF808EE8}" type="presOf" srcId="{BD04D796-3707-4D20-8EC1-DEFABE4BA72E}" destId="{59A78C75-A592-0040-98CD-BFF658DAC7EF}" srcOrd="0" destOrd="0" presId="urn:microsoft.com/office/officeart/2005/8/layout/chevron1"/>
    <dgm:cxn modelId="{74B7FCEF-21EF-4F29-BE20-C83A0730FAB2}" srcId="{59129FCB-121B-4884-972E-DD3F74516BA0}" destId="{BD04D796-3707-4D20-8EC1-DEFABE4BA72E}" srcOrd="2" destOrd="0" parTransId="{8E25EA88-1EE2-4BEE-AF9E-2277C94C7D13}" sibTransId="{83149E00-BCDC-4B89-991A-1B44AAFC4DC4}"/>
    <dgm:cxn modelId="{EB6015F4-0F2E-4740-9F6D-DA77D1DE3AF9}" type="presOf" srcId="{49123E35-4520-4BCA-9AC0-D7080FC1B567}" destId="{42199EC5-704F-2E48-B300-7B9BF3B50118}" srcOrd="0" destOrd="0" presId="urn:microsoft.com/office/officeart/2005/8/layout/chevron1"/>
    <dgm:cxn modelId="{1A07C7B7-C4B0-F24A-8011-0F3F8DFB9BF0}" type="presParOf" srcId="{1D21BAB1-73A7-444B-B70D-CF38B931D96A}" destId="{42199EC5-704F-2E48-B300-7B9BF3B50118}" srcOrd="0" destOrd="0" presId="urn:microsoft.com/office/officeart/2005/8/layout/chevron1"/>
    <dgm:cxn modelId="{203C4709-545F-1B4F-A343-F120F154C7FE}" type="presParOf" srcId="{1D21BAB1-73A7-444B-B70D-CF38B931D96A}" destId="{37C4CEA4-F768-8948-9652-EA94163DDE72}" srcOrd="1" destOrd="0" presId="urn:microsoft.com/office/officeart/2005/8/layout/chevron1"/>
    <dgm:cxn modelId="{9E23AB72-68A8-B543-A7BE-8C5D47DD0CAC}" type="presParOf" srcId="{1D21BAB1-73A7-444B-B70D-CF38B931D96A}" destId="{A88DC44B-0F05-0A42-B736-C180CF356385}" srcOrd="2" destOrd="0" presId="urn:microsoft.com/office/officeart/2005/8/layout/chevron1"/>
    <dgm:cxn modelId="{059389F6-8A7F-9847-9143-3F93374865AE}" type="presParOf" srcId="{1D21BAB1-73A7-444B-B70D-CF38B931D96A}" destId="{82E38A02-A37A-784D-B861-ADBC8C7BF91C}" srcOrd="3" destOrd="0" presId="urn:microsoft.com/office/officeart/2005/8/layout/chevron1"/>
    <dgm:cxn modelId="{624373DE-D53C-D348-B9DB-E0C764F6BE76}" type="presParOf" srcId="{1D21BAB1-73A7-444B-B70D-CF38B931D96A}" destId="{59A78C75-A592-0040-98CD-BFF658DAC7E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A45926-0F0D-46CF-94A6-BD715688AE6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F2614F-CA05-49BD-8DF8-0E9D633BBA9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Number of Qubits:</a:t>
          </a:r>
          <a:r>
            <a:rPr lang="it-IT" b="0" i="0" baseline="0"/>
            <a:t> Total number of logical qubits used in the final circuit.</a:t>
          </a:r>
          <a:endParaRPr lang="en-US"/>
        </a:p>
      </dgm:t>
    </dgm:pt>
    <dgm:pt modelId="{28A12F7A-A6AD-45FE-A29E-CF9E766A1454}" type="parTrans" cxnId="{97A67D08-75E8-4C88-83A1-A96F81ADDF72}">
      <dgm:prSet/>
      <dgm:spPr/>
      <dgm:t>
        <a:bodyPr/>
        <a:lstStyle/>
        <a:p>
          <a:endParaRPr lang="en-US"/>
        </a:p>
      </dgm:t>
    </dgm:pt>
    <dgm:pt modelId="{BB302893-8F5F-41D1-B043-5B0BD9A2B011}" type="sibTrans" cxnId="{97A67D08-75E8-4C88-83A1-A96F81ADDF72}">
      <dgm:prSet/>
      <dgm:spPr/>
      <dgm:t>
        <a:bodyPr/>
        <a:lstStyle/>
        <a:p>
          <a:endParaRPr lang="en-US"/>
        </a:p>
      </dgm:t>
    </dgm:pt>
    <dgm:pt modelId="{574C52ED-F5BB-466B-AC5B-59E5B37CCDB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Total Gate Count:</a:t>
          </a:r>
          <a:r>
            <a:rPr lang="it-IT" b="0" i="0" baseline="0"/>
            <a:t> Overall number of quantum gates in the synthesized circuit.</a:t>
          </a:r>
          <a:endParaRPr lang="en-US"/>
        </a:p>
      </dgm:t>
    </dgm:pt>
    <dgm:pt modelId="{BE4CB254-8EEA-4621-8E2D-248A530C6F72}" type="parTrans" cxnId="{1D93B184-8256-4C5F-8545-6DAEC4D1DDD1}">
      <dgm:prSet/>
      <dgm:spPr/>
      <dgm:t>
        <a:bodyPr/>
        <a:lstStyle/>
        <a:p>
          <a:endParaRPr lang="en-US"/>
        </a:p>
      </dgm:t>
    </dgm:pt>
    <dgm:pt modelId="{8BF1C59A-2744-4576-8B8E-0ABFD82F0751}" type="sibTrans" cxnId="{1D93B184-8256-4C5F-8545-6DAEC4D1DDD1}">
      <dgm:prSet/>
      <dgm:spPr/>
      <dgm:t>
        <a:bodyPr/>
        <a:lstStyle/>
        <a:p>
          <a:endParaRPr lang="en-US"/>
        </a:p>
      </dgm:t>
    </dgm:pt>
    <dgm:pt modelId="{E5E6BDD2-6162-4354-A8D7-84AE29DBBDC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CX Gates:</a:t>
          </a:r>
          <a:r>
            <a:rPr lang="it-IT" b="0" i="0" baseline="0"/>
            <a:t> Number of controlled-NOT (CNOT) gates, which are crucial indicators of circuit depth and error sensitivity on real hardware.</a:t>
          </a:r>
          <a:endParaRPr lang="en-US"/>
        </a:p>
      </dgm:t>
    </dgm:pt>
    <dgm:pt modelId="{9AF42A2F-C099-4087-B1C8-D0119FDD0A3C}" type="parTrans" cxnId="{8918D549-DED1-4157-A580-B2814A5BEBE4}">
      <dgm:prSet/>
      <dgm:spPr/>
      <dgm:t>
        <a:bodyPr/>
        <a:lstStyle/>
        <a:p>
          <a:endParaRPr lang="en-US"/>
        </a:p>
      </dgm:t>
    </dgm:pt>
    <dgm:pt modelId="{753F1CC8-3AFC-4FF3-9762-FDC81BE9645D}" type="sibTrans" cxnId="{8918D549-DED1-4157-A580-B2814A5BEBE4}">
      <dgm:prSet/>
      <dgm:spPr/>
      <dgm:t>
        <a:bodyPr/>
        <a:lstStyle/>
        <a:p>
          <a:endParaRPr lang="en-US"/>
        </a:p>
      </dgm:t>
    </dgm:pt>
    <dgm:pt modelId="{BDC19582-1CFD-490B-B476-BBDB506A5B3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baseline="0"/>
            <a:t>T Gates:</a:t>
          </a:r>
          <a:r>
            <a:rPr lang="it-IT" b="0" i="0" baseline="0"/>
            <a:t> Number of T gates, representing the non-Clifford contribution to the overall complexity and a key metric in fault-tolerant quantum computing.</a:t>
          </a:r>
          <a:endParaRPr lang="en-US"/>
        </a:p>
      </dgm:t>
    </dgm:pt>
    <dgm:pt modelId="{4A74921C-2233-41EC-9DCC-2CB5CA1775B3}" type="parTrans" cxnId="{EC798E62-F9D5-436B-821E-5F0CBA48F3E1}">
      <dgm:prSet/>
      <dgm:spPr/>
      <dgm:t>
        <a:bodyPr/>
        <a:lstStyle/>
        <a:p>
          <a:endParaRPr lang="en-US"/>
        </a:p>
      </dgm:t>
    </dgm:pt>
    <dgm:pt modelId="{837EDB0D-13E8-4651-A7B8-A30708AE41DB}" type="sibTrans" cxnId="{EC798E62-F9D5-436B-821E-5F0CBA48F3E1}">
      <dgm:prSet/>
      <dgm:spPr/>
      <dgm:t>
        <a:bodyPr/>
        <a:lstStyle/>
        <a:p>
          <a:endParaRPr lang="en-US"/>
        </a:p>
      </dgm:t>
    </dgm:pt>
    <dgm:pt modelId="{451ABC2E-8D4E-4577-9282-0F1C232AAB97}" type="pres">
      <dgm:prSet presAssocID="{A3A45926-0F0D-46CF-94A6-BD715688AE67}" presName="root" presStyleCnt="0">
        <dgm:presLayoutVars>
          <dgm:dir/>
          <dgm:resizeHandles val="exact"/>
        </dgm:presLayoutVars>
      </dgm:prSet>
      <dgm:spPr/>
    </dgm:pt>
    <dgm:pt modelId="{484BCD2E-B0E1-4233-A473-72B1791F8A55}" type="pres">
      <dgm:prSet presAssocID="{4AF2614F-CA05-49BD-8DF8-0E9D633BBA99}" presName="compNode" presStyleCnt="0"/>
      <dgm:spPr/>
    </dgm:pt>
    <dgm:pt modelId="{CEF5D595-1F02-495B-9558-D76620535CF3}" type="pres">
      <dgm:prSet presAssocID="{4AF2614F-CA05-49BD-8DF8-0E9D633BBA99}" presName="iconRect" presStyleLbl="node1" presStyleIdx="0" presStyleCnt="4" custAng="54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06C2231-A22C-4734-99D6-F8F3E6E91936}" type="pres">
      <dgm:prSet presAssocID="{4AF2614F-CA05-49BD-8DF8-0E9D633BBA99}" presName="spaceRect" presStyleCnt="0"/>
      <dgm:spPr/>
    </dgm:pt>
    <dgm:pt modelId="{5EEF0DFC-AC9C-4E60-9BEE-58F30A464E21}" type="pres">
      <dgm:prSet presAssocID="{4AF2614F-CA05-49BD-8DF8-0E9D633BBA99}" presName="textRect" presStyleLbl="revTx" presStyleIdx="0" presStyleCnt="4">
        <dgm:presLayoutVars>
          <dgm:chMax val="1"/>
          <dgm:chPref val="1"/>
        </dgm:presLayoutVars>
      </dgm:prSet>
      <dgm:spPr/>
    </dgm:pt>
    <dgm:pt modelId="{C807C12B-A200-49BD-8321-7CB2DAA68378}" type="pres">
      <dgm:prSet presAssocID="{BB302893-8F5F-41D1-B043-5B0BD9A2B011}" presName="sibTrans" presStyleCnt="0"/>
      <dgm:spPr/>
    </dgm:pt>
    <dgm:pt modelId="{743EC945-A775-49B5-B72B-D4F787755CF3}" type="pres">
      <dgm:prSet presAssocID="{574C52ED-F5BB-466B-AC5B-59E5B37CCDB8}" presName="compNode" presStyleCnt="0"/>
      <dgm:spPr/>
    </dgm:pt>
    <dgm:pt modelId="{9C412D6F-A7EC-490A-A9C0-09FB297CB857}" type="pres">
      <dgm:prSet presAssocID="{574C52ED-F5BB-466B-AC5B-59E5B37CCDB8}" presName="iconRect" presStyleLbl="node1" presStyleIdx="1" presStyleCnt="4" custAng="540000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aco con riempimento a tinta unita"/>
        </a:ext>
      </dgm:extLst>
    </dgm:pt>
    <dgm:pt modelId="{E59D9EF5-70AA-495F-A505-8F51FE9B4AF8}" type="pres">
      <dgm:prSet presAssocID="{574C52ED-F5BB-466B-AC5B-59E5B37CCDB8}" presName="spaceRect" presStyleCnt="0"/>
      <dgm:spPr/>
    </dgm:pt>
    <dgm:pt modelId="{30840F4B-799B-4EB7-AD6C-0CB9A3A586A3}" type="pres">
      <dgm:prSet presAssocID="{574C52ED-F5BB-466B-AC5B-59E5B37CCDB8}" presName="textRect" presStyleLbl="revTx" presStyleIdx="1" presStyleCnt="4">
        <dgm:presLayoutVars>
          <dgm:chMax val="1"/>
          <dgm:chPref val="1"/>
        </dgm:presLayoutVars>
      </dgm:prSet>
      <dgm:spPr/>
    </dgm:pt>
    <dgm:pt modelId="{9C6ADF01-1FE0-4ADE-8E5D-0458DE515FC0}" type="pres">
      <dgm:prSet presAssocID="{8BF1C59A-2744-4576-8B8E-0ABFD82F0751}" presName="sibTrans" presStyleCnt="0"/>
      <dgm:spPr/>
    </dgm:pt>
    <dgm:pt modelId="{C68CF4B4-4DA1-4C8E-9894-8A1B12FFFB49}" type="pres">
      <dgm:prSet presAssocID="{E5E6BDD2-6162-4354-A8D7-84AE29DBBDCE}" presName="compNode" presStyleCnt="0"/>
      <dgm:spPr/>
    </dgm:pt>
    <dgm:pt modelId="{E21CF43D-4B0C-4DEE-B247-308EF04CDF20}" type="pres">
      <dgm:prSet presAssocID="{E5E6BDD2-6162-4354-A8D7-84AE29DBBDC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0FF90B5A-A26F-47F1-97D7-818E59EF7830}" type="pres">
      <dgm:prSet presAssocID="{E5E6BDD2-6162-4354-A8D7-84AE29DBBDCE}" presName="spaceRect" presStyleCnt="0"/>
      <dgm:spPr/>
    </dgm:pt>
    <dgm:pt modelId="{8D23A600-4E70-4522-851E-99F580056A96}" type="pres">
      <dgm:prSet presAssocID="{E5E6BDD2-6162-4354-A8D7-84AE29DBBDCE}" presName="textRect" presStyleLbl="revTx" presStyleIdx="2" presStyleCnt="4">
        <dgm:presLayoutVars>
          <dgm:chMax val="1"/>
          <dgm:chPref val="1"/>
        </dgm:presLayoutVars>
      </dgm:prSet>
      <dgm:spPr/>
    </dgm:pt>
    <dgm:pt modelId="{778D75AB-0D00-499C-89E5-138F9EA5DA5F}" type="pres">
      <dgm:prSet presAssocID="{753F1CC8-3AFC-4FF3-9762-FDC81BE9645D}" presName="sibTrans" presStyleCnt="0"/>
      <dgm:spPr/>
    </dgm:pt>
    <dgm:pt modelId="{4C1EA8A1-768D-4B97-B0EC-97C247EB4839}" type="pres">
      <dgm:prSet presAssocID="{BDC19582-1CFD-490B-B476-BBDB506A5B3F}" presName="compNode" presStyleCnt="0"/>
      <dgm:spPr/>
    </dgm:pt>
    <dgm:pt modelId="{E7A9AB38-CF02-4E10-A2FF-548702376157}" type="pres">
      <dgm:prSet presAssocID="{BDC19582-1CFD-490B-B476-BBDB506A5B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eccia circolare con riempimento a tinta unita"/>
        </a:ext>
      </dgm:extLst>
    </dgm:pt>
    <dgm:pt modelId="{6D30240E-187D-4D24-B868-8BE29F667F91}" type="pres">
      <dgm:prSet presAssocID="{BDC19582-1CFD-490B-B476-BBDB506A5B3F}" presName="spaceRect" presStyleCnt="0"/>
      <dgm:spPr/>
    </dgm:pt>
    <dgm:pt modelId="{CC4BDD5C-65D1-4B7A-BD74-B14347ADD5F9}" type="pres">
      <dgm:prSet presAssocID="{BDC19582-1CFD-490B-B476-BBDB506A5B3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7A67D08-75E8-4C88-83A1-A96F81ADDF72}" srcId="{A3A45926-0F0D-46CF-94A6-BD715688AE67}" destId="{4AF2614F-CA05-49BD-8DF8-0E9D633BBA99}" srcOrd="0" destOrd="0" parTransId="{28A12F7A-A6AD-45FE-A29E-CF9E766A1454}" sibTransId="{BB302893-8F5F-41D1-B043-5B0BD9A2B011}"/>
    <dgm:cxn modelId="{EDDFE124-4307-4137-9F38-02A072C4A619}" type="presOf" srcId="{A3A45926-0F0D-46CF-94A6-BD715688AE67}" destId="{451ABC2E-8D4E-4577-9282-0F1C232AAB97}" srcOrd="0" destOrd="0" presId="urn:microsoft.com/office/officeart/2018/2/layout/IconLabelList"/>
    <dgm:cxn modelId="{8918D549-DED1-4157-A580-B2814A5BEBE4}" srcId="{A3A45926-0F0D-46CF-94A6-BD715688AE67}" destId="{E5E6BDD2-6162-4354-A8D7-84AE29DBBDCE}" srcOrd="2" destOrd="0" parTransId="{9AF42A2F-C099-4087-B1C8-D0119FDD0A3C}" sibTransId="{753F1CC8-3AFC-4FF3-9762-FDC81BE9645D}"/>
    <dgm:cxn modelId="{EC798E62-F9D5-436B-821E-5F0CBA48F3E1}" srcId="{A3A45926-0F0D-46CF-94A6-BD715688AE67}" destId="{BDC19582-1CFD-490B-B476-BBDB506A5B3F}" srcOrd="3" destOrd="0" parTransId="{4A74921C-2233-41EC-9DCC-2CB5CA1775B3}" sibTransId="{837EDB0D-13E8-4651-A7B8-A30708AE41DB}"/>
    <dgm:cxn modelId="{1D93B184-8256-4C5F-8545-6DAEC4D1DDD1}" srcId="{A3A45926-0F0D-46CF-94A6-BD715688AE67}" destId="{574C52ED-F5BB-466B-AC5B-59E5B37CCDB8}" srcOrd="1" destOrd="0" parTransId="{BE4CB254-8EEA-4621-8E2D-248A530C6F72}" sibTransId="{8BF1C59A-2744-4576-8B8E-0ABFD82F0751}"/>
    <dgm:cxn modelId="{41C43885-B2CF-4527-BEC8-940189450619}" type="presOf" srcId="{574C52ED-F5BB-466B-AC5B-59E5B37CCDB8}" destId="{30840F4B-799B-4EB7-AD6C-0CB9A3A586A3}" srcOrd="0" destOrd="0" presId="urn:microsoft.com/office/officeart/2018/2/layout/IconLabelList"/>
    <dgm:cxn modelId="{FA2E10DC-668E-4A01-9A63-E828938291DC}" type="presOf" srcId="{BDC19582-1CFD-490B-B476-BBDB506A5B3F}" destId="{CC4BDD5C-65D1-4B7A-BD74-B14347ADD5F9}" srcOrd="0" destOrd="0" presId="urn:microsoft.com/office/officeart/2018/2/layout/IconLabelList"/>
    <dgm:cxn modelId="{F0B751E0-F178-4DF5-A47F-92C2AE3089F0}" type="presOf" srcId="{E5E6BDD2-6162-4354-A8D7-84AE29DBBDCE}" destId="{8D23A600-4E70-4522-851E-99F580056A96}" srcOrd="0" destOrd="0" presId="urn:microsoft.com/office/officeart/2018/2/layout/IconLabelList"/>
    <dgm:cxn modelId="{1DF4B6EC-3F05-4FE3-8C95-9B50AF7EC65F}" type="presOf" srcId="{4AF2614F-CA05-49BD-8DF8-0E9D633BBA99}" destId="{5EEF0DFC-AC9C-4E60-9BEE-58F30A464E21}" srcOrd="0" destOrd="0" presId="urn:microsoft.com/office/officeart/2018/2/layout/IconLabelList"/>
    <dgm:cxn modelId="{020D9927-4885-47D4-BD20-017BA4914826}" type="presParOf" srcId="{451ABC2E-8D4E-4577-9282-0F1C232AAB97}" destId="{484BCD2E-B0E1-4233-A473-72B1791F8A55}" srcOrd="0" destOrd="0" presId="urn:microsoft.com/office/officeart/2018/2/layout/IconLabelList"/>
    <dgm:cxn modelId="{0D6301B9-918C-4189-A723-C7A91FF37785}" type="presParOf" srcId="{484BCD2E-B0E1-4233-A473-72B1791F8A55}" destId="{CEF5D595-1F02-495B-9558-D76620535CF3}" srcOrd="0" destOrd="0" presId="urn:microsoft.com/office/officeart/2018/2/layout/IconLabelList"/>
    <dgm:cxn modelId="{321210EE-2334-4929-93D9-BB3E951356DE}" type="presParOf" srcId="{484BCD2E-B0E1-4233-A473-72B1791F8A55}" destId="{A06C2231-A22C-4734-99D6-F8F3E6E91936}" srcOrd="1" destOrd="0" presId="urn:microsoft.com/office/officeart/2018/2/layout/IconLabelList"/>
    <dgm:cxn modelId="{397DFA11-2188-4E38-8F1B-848D920B1000}" type="presParOf" srcId="{484BCD2E-B0E1-4233-A473-72B1791F8A55}" destId="{5EEF0DFC-AC9C-4E60-9BEE-58F30A464E21}" srcOrd="2" destOrd="0" presId="urn:microsoft.com/office/officeart/2018/2/layout/IconLabelList"/>
    <dgm:cxn modelId="{825091CC-897C-4A12-97CB-19FD05D62CE8}" type="presParOf" srcId="{451ABC2E-8D4E-4577-9282-0F1C232AAB97}" destId="{C807C12B-A200-49BD-8321-7CB2DAA68378}" srcOrd="1" destOrd="0" presId="urn:microsoft.com/office/officeart/2018/2/layout/IconLabelList"/>
    <dgm:cxn modelId="{656615CA-CD63-453C-AE44-62E074267411}" type="presParOf" srcId="{451ABC2E-8D4E-4577-9282-0F1C232AAB97}" destId="{743EC945-A775-49B5-B72B-D4F787755CF3}" srcOrd="2" destOrd="0" presId="urn:microsoft.com/office/officeart/2018/2/layout/IconLabelList"/>
    <dgm:cxn modelId="{76DAC499-461C-4A63-A091-6500D9DCEDAA}" type="presParOf" srcId="{743EC945-A775-49B5-B72B-D4F787755CF3}" destId="{9C412D6F-A7EC-490A-A9C0-09FB297CB857}" srcOrd="0" destOrd="0" presId="urn:microsoft.com/office/officeart/2018/2/layout/IconLabelList"/>
    <dgm:cxn modelId="{F656E7EA-9DE8-4597-A4F3-7BD60F443154}" type="presParOf" srcId="{743EC945-A775-49B5-B72B-D4F787755CF3}" destId="{E59D9EF5-70AA-495F-A505-8F51FE9B4AF8}" srcOrd="1" destOrd="0" presId="urn:microsoft.com/office/officeart/2018/2/layout/IconLabelList"/>
    <dgm:cxn modelId="{308678CA-37F8-4066-A1BD-F913D64597F5}" type="presParOf" srcId="{743EC945-A775-49B5-B72B-D4F787755CF3}" destId="{30840F4B-799B-4EB7-AD6C-0CB9A3A586A3}" srcOrd="2" destOrd="0" presId="urn:microsoft.com/office/officeart/2018/2/layout/IconLabelList"/>
    <dgm:cxn modelId="{A47763AF-EDBE-448E-AC43-7B16D931B040}" type="presParOf" srcId="{451ABC2E-8D4E-4577-9282-0F1C232AAB97}" destId="{9C6ADF01-1FE0-4ADE-8E5D-0458DE515FC0}" srcOrd="3" destOrd="0" presId="urn:microsoft.com/office/officeart/2018/2/layout/IconLabelList"/>
    <dgm:cxn modelId="{F5C0B388-31D6-463A-8C2D-79D203ECA0B4}" type="presParOf" srcId="{451ABC2E-8D4E-4577-9282-0F1C232AAB97}" destId="{C68CF4B4-4DA1-4C8E-9894-8A1B12FFFB49}" srcOrd="4" destOrd="0" presId="urn:microsoft.com/office/officeart/2018/2/layout/IconLabelList"/>
    <dgm:cxn modelId="{DBB3AFF8-B084-489B-AEBD-E8F763E63F64}" type="presParOf" srcId="{C68CF4B4-4DA1-4C8E-9894-8A1B12FFFB49}" destId="{E21CF43D-4B0C-4DEE-B247-308EF04CDF20}" srcOrd="0" destOrd="0" presId="urn:microsoft.com/office/officeart/2018/2/layout/IconLabelList"/>
    <dgm:cxn modelId="{E15E2166-9D2B-4252-94C9-4E2886AE713F}" type="presParOf" srcId="{C68CF4B4-4DA1-4C8E-9894-8A1B12FFFB49}" destId="{0FF90B5A-A26F-47F1-97D7-818E59EF7830}" srcOrd="1" destOrd="0" presId="urn:microsoft.com/office/officeart/2018/2/layout/IconLabelList"/>
    <dgm:cxn modelId="{57001C54-A753-4D31-87A7-8F57E223C090}" type="presParOf" srcId="{C68CF4B4-4DA1-4C8E-9894-8A1B12FFFB49}" destId="{8D23A600-4E70-4522-851E-99F580056A96}" srcOrd="2" destOrd="0" presId="urn:microsoft.com/office/officeart/2018/2/layout/IconLabelList"/>
    <dgm:cxn modelId="{F4218E7B-809B-489F-93C2-F5CD5C066707}" type="presParOf" srcId="{451ABC2E-8D4E-4577-9282-0F1C232AAB97}" destId="{778D75AB-0D00-499C-89E5-138F9EA5DA5F}" srcOrd="5" destOrd="0" presId="urn:microsoft.com/office/officeart/2018/2/layout/IconLabelList"/>
    <dgm:cxn modelId="{88EC4B14-0DF1-418F-8E70-CA5F741230F1}" type="presParOf" srcId="{451ABC2E-8D4E-4577-9282-0F1C232AAB97}" destId="{4C1EA8A1-768D-4B97-B0EC-97C247EB4839}" srcOrd="6" destOrd="0" presId="urn:microsoft.com/office/officeart/2018/2/layout/IconLabelList"/>
    <dgm:cxn modelId="{4D4C5880-C872-4538-AA6F-23415D18BE0B}" type="presParOf" srcId="{4C1EA8A1-768D-4B97-B0EC-97C247EB4839}" destId="{E7A9AB38-CF02-4E10-A2FF-548702376157}" srcOrd="0" destOrd="0" presId="urn:microsoft.com/office/officeart/2018/2/layout/IconLabelList"/>
    <dgm:cxn modelId="{98936DFF-F4C6-48EA-9CF4-7566A35C6CF9}" type="presParOf" srcId="{4C1EA8A1-768D-4B97-B0EC-97C247EB4839}" destId="{6D30240E-187D-4D24-B868-8BE29F667F91}" srcOrd="1" destOrd="0" presId="urn:microsoft.com/office/officeart/2018/2/layout/IconLabelList"/>
    <dgm:cxn modelId="{535FEA0F-FB9B-4C76-B4D3-0616B3A34FBB}" type="presParOf" srcId="{4C1EA8A1-768D-4B97-B0EC-97C247EB4839}" destId="{CC4BDD5C-65D1-4B7A-BD74-B14347ADD5F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B992B3-52BA-407A-A8C1-39AF47B01017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42B967-309B-4E48-AC5A-06C2FDB77B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Bidirectional and Flexible Workflows</a:t>
          </a:r>
        </a:p>
      </dgm:t>
    </dgm:pt>
    <dgm:pt modelId="{C6A55462-9B4B-4192-9334-776C98EEA66C}" type="parTrans" cxnId="{934381DF-ECBA-437D-AD09-4E88AF2D60A7}">
      <dgm:prSet/>
      <dgm:spPr/>
      <dgm:t>
        <a:bodyPr/>
        <a:lstStyle/>
        <a:p>
          <a:endParaRPr lang="en-US"/>
        </a:p>
      </dgm:t>
    </dgm:pt>
    <dgm:pt modelId="{2F00F786-C2D6-49EF-A296-4CBB40D63E3F}" type="sibTrans" cxnId="{934381DF-ECBA-437D-AD09-4E88AF2D60A7}">
      <dgm:prSet/>
      <dgm:spPr/>
      <dgm:t>
        <a:bodyPr/>
        <a:lstStyle/>
        <a:p>
          <a:endParaRPr lang="en-US"/>
        </a:p>
      </dgm:t>
    </dgm:pt>
    <dgm:pt modelId="{029C1F7E-D24D-4F6A-B56F-9AB756A027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for </a:t>
          </a:r>
          <a:r>
            <a:rPr lang="en-US" b="1"/>
            <a:t>lifting</a:t>
          </a:r>
          <a:r>
            <a:rPr lang="en-US"/>
            <a:t> QASM to quantum IR and reverse mapping to classical control logic</a:t>
          </a:r>
        </a:p>
      </dgm:t>
    </dgm:pt>
    <dgm:pt modelId="{463F6BD9-8C2E-46D3-8A04-2D8AD9C4A7C5}" type="parTrans" cxnId="{9A9832B5-A96A-4F8D-886E-E1CEDE878C84}">
      <dgm:prSet/>
      <dgm:spPr/>
      <dgm:t>
        <a:bodyPr/>
        <a:lstStyle/>
        <a:p>
          <a:endParaRPr lang="en-US"/>
        </a:p>
      </dgm:t>
    </dgm:pt>
    <dgm:pt modelId="{E8F546C9-CD0C-44A3-A3C3-ED520F434087}" type="sibTrans" cxnId="{9A9832B5-A96A-4F8D-886E-E1CEDE878C84}">
      <dgm:prSet/>
      <dgm:spPr/>
      <dgm:t>
        <a:bodyPr/>
        <a:lstStyle/>
        <a:p>
          <a:endParaRPr lang="en-US"/>
        </a:p>
      </dgm:t>
    </dgm:pt>
    <dgm:pt modelId="{BF6A82E0-E742-405E-9727-42B869A185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 </a:t>
          </a:r>
          <a:r>
            <a:rPr lang="en-US" b="1"/>
            <a:t>round-trip transformations</a:t>
          </a:r>
          <a:r>
            <a:rPr lang="en-US"/>
            <a:t> for debugging and IR-level optimization</a:t>
          </a:r>
        </a:p>
      </dgm:t>
    </dgm:pt>
    <dgm:pt modelId="{A80C8E60-5B11-459D-A8CD-15392EC4BA27}" type="parTrans" cxnId="{65C92D17-718A-459A-A5B4-C8AF5696CEAF}">
      <dgm:prSet/>
      <dgm:spPr/>
      <dgm:t>
        <a:bodyPr/>
        <a:lstStyle/>
        <a:p>
          <a:endParaRPr lang="en-US"/>
        </a:p>
      </dgm:t>
    </dgm:pt>
    <dgm:pt modelId="{FF17BA83-FC50-47A1-B545-26CA02CDEEAD}" type="sibTrans" cxnId="{65C92D17-718A-459A-A5B4-C8AF5696CEAF}">
      <dgm:prSet/>
      <dgm:spPr/>
      <dgm:t>
        <a:bodyPr/>
        <a:lstStyle/>
        <a:p>
          <a:endParaRPr lang="en-US"/>
        </a:p>
      </dgm:t>
    </dgm:pt>
    <dgm:pt modelId="{533423BC-BEFF-4E67-90AF-4CA6F83D3E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alternative frontends (e.g., Verilog) for shared IR reuse</a:t>
          </a:r>
        </a:p>
      </dgm:t>
    </dgm:pt>
    <dgm:pt modelId="{880C50D6-CA53-4509-B6D8-19943C437FE7}" type="parTrans" cxnId="{9961D678-9CAE-4D72-97C1-99046DC330D3}">
      <dgm:prSet/>
      <dgm:spPr/>
      <dgm:t>
        <a:bodyPr/>
        <a:lstStyle/>
        <a:p>
          <a:endParaRPr lang="en-US"/>
        </a:p>
      </dgm:t>
    </dgm:pt>
    <dgm:pt modelId="{4C0817EA-DFAA-4476-8618-DE1C1DF9A3E8}" type="sibTrans" cxnId="{9961D678-9CAE-4D72-97C1-99046DC330D3}">
      <dgm:prSet/>
      <dgm:spPr/>
      <dgm:t>
        <a:bodyPr/>
        <a:lstStyle/>
        <a:p>
          <a:endParaRPr lang="en-US"/>
        </a:p>
      </dgm:t>
    </dgm:pt>
    <dgm:pt modelId="{4CD2A9C8-39EA-43A3-B70F-FFCB6BD248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Dialect Interoperability</a:t>
          </a:r>
        </a:p>
      </dgm:t>
    </dgm:pt>
    <dgm:pt modelId="{B4BF4277-6A2E-4B82-9FE2-F93194A65802}" type="parTrans" cxnId="{F7972E71-9A77-4BE7-AAAC-508A725BF8DE}">
      <dgm:prSet/>
      <dgm:spPr/>
      <dgm:t>
        <a:bodyPr/>
        <a:lstStyle/>
        <a:p>
          <a:endParaRPr lang="en-US"/>
        </a:p>
      </dgm:t>
    </dgm:pt>
    <dgm:pt modelId="{8CFB8248-F219-479F-8AE5-F53AF041C811}" type="sibTrans" cxnId="{F7972E71-9A77-4BE7-AAAC-508A725BF8DE}">
      <dgm:prSet/>
      <dgm:spPr/>
      <dgm:t>
        <a:bodyPr/>
        <a:lstStyle/>
        <a:p>
          <a:endParaRPr lang="en-US"/>
        </a:p>
      </dgm:t>
    </dgm:pt>
    <dgm:pt modelId="{DE8B1C2A-23A8-4699-9A11-B5F0E8A1AC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Align with existing IRs like </a:t>
          </a:r>
          <a:r>
            <a:rPr lang="en-US" b="1"/>
            <a:t>QIRO</a:t>
          </a:r>
          <a:r>
            <a:rPr lang="en-US"/>
            <a:t>, </a:t>
          </a:r>
          <a:r>
            <a:rPr lang="en-US" b="1" err="1"/>
            <a:t>xDSL</a:t>
          </a:r>
          <a:r>
            <a:rPr lang="en-US"/>
            <a:t>, and </a:t>
          </a:r>
          <a:r>
            <a:rPr lang="en-US" b="1"/>
            <a:t>MLIR</a:t>
          </a:r>
          <a:endParaRPr lang="en-US"/>
        </a:p>
      </dgm:t>
    </dgm:pt>
    <dgm:pt modelId="{CAE2B7B6-240D-445C-AC37-58772D316D11}" type="parTrans" cxnId="{48C9004F-7473-408C-BCAE-970087C6AFB9}">
      <dgm:prSet/>
      <dgm:spPr/>
      <dgm:t>
        <a:bodyPr/>
        <a:lstStyle/>
        <a:p>
          <a:endParaRPr lang="en-US"/>
        </a:p>
      </dgm:t>
    </dgm:pt>
    <dgm:pt modelId="{71BDBD95-2ABC-4EED-83DE-D39AFD65A45F}" type="sibTrans" cxnId="{48C9004F-7473-408C-BCAE-970087C6AFB9}">
      <dgm:prSet/>
      <dgm:spPr/>
      <dgm:t>
        <a:bodyPr/>
        <a:lstStyle/>
        <a:p>
          <a:endParaRPr lang="en-US"/>
        </a:p>
      </dgm:t>
    </dgm:pt>
    <dgm:pt modelId="{87AD5646-68B1-4453-8BE4-DC75C7307D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translation layers between dialects</a:t>
          </a:r>
        </a:p>
      </dgm:t>
    </dgm:pt>
    <dgm:pt modelId="{3C651A3B-7CA3-443D-8B2A-D64C03DD4F30}" type="parTrans" cxnId="{3CD23F3E-22E8-4C33-9C6B-E3730597ED81}">
      <dgm:prSet/>
      <dgm:spPr/>
      <dgm:t>
        <a:bodyPr/>
        <a:lstStyle/>
        <a:p>
          <a:endParaRPr lang="en-US"/>
        </a:p>
      </dgm:t>
    </dgm:pt>
    <dgm:pt modelId="{2A14E1B5-E232-49B7-BA43-9D20AF4884DD}" type="sibTrans" cxnId="{3CD23F3E-22E8-4C33-9C6B-E3730597ED81}">
      <dgm:prSet/>
      <dgm:spPr/>
      <dgm:t>
        <a:bodyPr/>
        <a:lstStyle/>
        <a:p>
          <a:endParaRPr lang="en-US"/>
        </a:p>
      </dgm:t>
    </dgm:pt>
    <dgm:pt modelId="{EB0A3A68-3158-4B2E-9B3A-D9BBBD4C75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Contribute toward </a:t>
          </a:r>
          <a:r>
            <a:rPr lang="en-US" b="1"/>
            <a:t>shared community standards</a:t>
          </a:r>
          <a:r>
            <a:rPr lang="en-US"/>
            <a:t> for quantum IRs</a:t>
          </a:r>
        </a:p>
      </dgm:t>
    </dgm:pt>
    <dgm:pt modelId="{B59D4FEF-96D2-4A63-B353-CB7F8586F75D}" type="parTrans" cxnId="{2FED3A5F-89E9-4A13-A78D-61795F92611E}">
      <dgm:prSet/>
      <dgm:spPr/>
      <dgm:t>
        <a:bodyPr/>
        <a:lstStyle/>
        <a:p>
          <a:endParaRPr lang="en-US"/>
        </a:p>
      </dgm:t>
    </dgm:pt>
    <dgm:pt modelId="{66951393-6AB7-4E02-BAE3-0E23DD1201C8}" type="sibTrans" cxnId="{2FED3A5F-89E9-4A13-A78D-61795F92611E}">
      <dgm:prSet/>
      <dgm:spPr/>
      <dgm:t>
        <a:bodyPr/>
        <a:lstStyle/>
        <a:p>
          <a:endParaRPr lang="en-US"/>
        </a:p>
      </dgm:t>
    </dgm:pt>
    <dgm:pt modelId="{5EB85A88-5CCF-40D5-9C89-1B3A2BF12C9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Target-Aware Gate Synthesis</a:t>
          </a:r>
        </a:p>
      </dgm:t>
    </dgm:pt>
    <dgm:pt modelId="{5E0AC74B-FC8D-4359-9191-174AD07259A8}" type="parTrans" cxnId="{FECEF574-F07B-4077-BD2A-541F8B8699CB}">
      <dgm:prSet/>
      <dgm:spPr/>
      <dgm:t>
        <a:bodyPr/>
        <a:lstStyle/>
        <a:p>
          <a:endParaRPr lang="en-US"/>
        </a:p>
      </dgm:t>
    </dgm:pt>
    <dgm:pt modelId="{A8332710-DB96-4CE1-97F0-47E853C0213C}" type="sibTrans" cxnId="{FECEF574-F07B-4077-BD2A-541F8B8699CB}">
      <dgm:prSet/>
      <dgm:spPr/>
      <dgm:t>
        <a:bodyPr/>
        <a:lstStyle/>
        <a:p>
          <a:endParaRPr lang="en-US"/>
        </a:p>
      </dgm:t>
    </dgm:pt>
    <dgm:pt modelId="{3A93737F-C429-4823-BD86-7D221B9065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configurable native gate sets per backend</a:t>
          </a:r>
        </a:p>
      </dgm:t>
    </dgm:pt>
    <dgm:pt modelId="{85981FE5-AA89-4351-B1FD-D8396749683D}" type="parTrans" cxnId="{0275A2FE-213F-449A-84A9-F4EA17E28FA7}">
      <dgm:prSet/>
      <dgm:spPr/>
      <dgm:t>
        <a:bodyPr/>
        <a:lstStyle/>
        <a:p>
          <a:endParaRPr lang="en-US"/>
        </a:p>
      </dgm:t>
    </dgm:pt>
    <dgm:pt modelId="{78F208DF-E941-4E3E-9F8D-BB3AE33E76D1}" type="sibTrans" cxnId="{0275A2FE-213F-449A-84A9-F4EA17E28FA7}">
      <dgm:prSet/>
      <dgm:spPr/>
      <dgm:t>
        <a:bodyPr/>
        <a:lstStyle/>
        <a:p>
          <a:endParaRPr lang="en-US"/>
        </a:p>
      </dgm:t>
    </dgm:pt>
    <dgm:pt modelId="{F600B810-F190-4C76-BE44-C7A9AFD725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Allow </a:t>
          </a:r>
          <a:r>
            <a:rPr lang="en-US" b="1"/>
            <a:t>architecture-specific lowering</a:t>
          </a:r>
          <a:r>
            <a:rPr lang="en-US"/>
            <a:t> (e.g., Toffoli, MCRz)</a:t>
          </a:r>
        </a:p>
      </dgm:t>
    </dgm:pt>
    <dgm:pt modelId="{7F5C32FB-DA1A-4906-B20E-89C1DE0FC004}" type="parTrans" cxnId="{A950E9CB-DB1F-44C3-A446-6BAAB6CAE71B}">
      <dgm:prSet/>
      <dgm:spPr/>
      <dgm:t>
        <a:bodyPr/>
        <a:lstStyle/>
        <a:p>
          <a:endParaRPr lang="en-US"/>
        </a:p>
      </dgm:t>
    </dgm:pt>
    <dgm:pt modelId="{8F1983F7-CCB2-4E99-86AC-6691DA40EB27}" type="sibTrans" cxnId="{A950E9CB-DB1F-44C3-A446-6BAAB6CAE71B}">
      <dgm:prSet/>
      <dgm:spPr/>
      <dgm:t>
        <a:bodyPr/>
        <a:lstStyle/>
        <a:p>
          <a:endParaRPr lang="en-US"/>
        </a:p>
      </dgm:t>
    </dgm:pt>
    <dgm:pt modelId="{8AB784F0-C0EB-48F7-BEF5-66036AFED2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 trade-offs between </a:t>
          </a:r>
          <a:r>
            <a:rPr lang="en-US" b="1"/>
            <a:t>abstraction</a:t>
          </a:r>
          <a:r>
            <a:rPr lang="en-US"/>
            <a:t> and </a:t>
          </a:r>
          <a:r>
            <a:rPr lang="en-US" b="1"/>
            <a:t>performance</a:t>
          </a:r>
          <a:endParaRPr lang="en-US"/>
        </a:p>
      </dgm:t>
    </dgm:pt>
    <dgm:pt modelId="{F64A3234-B655-413B-9751-E1EDC356EA8F}" type="parTrans" cxnId="{DC5799A0-7B63-4FDE-A9CC-91AC9F39E2F3}">
      <dgm:prSet/>
      <dgm:spPr/>
      <dgm:t>
        <a:bodyPr/>
        <a:lstStyle/>
        <a:p>
          <a:endParaRPr lang="en-US"/>
        </a:p>
      </dgm:t>
    </dgm:pt>
    <dgm:pt modelId="{63C8FE1F-9E02-467E-AAA4-DEB289815641}" type="sibTrans" cxnId="{DC5799A0-7B63-4FDE-A9CC-91AC9F39E2F3}">
      <dgm:prSet/>
      <dgm:spPr/>
      <dgm:t>
        <a:bodyPr/>
        <a:lstStyle/>
        <a:p>
          <a:endParaRPr lang="en-US"/>
        </a:p>
      </dgm:t>
    </dgm:pt>
    <dgm:pt modelId="{B2E61908-D5C1-4CA2-9635-33BC52B62F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IR-Level Benchmarking</a:t>
          </a:r>
        </a:p>
      </dgm:t>
    </dgm:pt>
    <dgm:pt modelId="{5635F84B-3294-4532-A43C-3F74C6C7821D}" type="parTrans" cxnId="{BE5E8A86-CF9E-45DA-B55D-D4542063EDF1}">
      <dgm:prSet/>
      <dgm:spPr/>
      <dgm:t>
        <a:bodyPr/>
        <a:lstStyle/>
        <a:p>
          <a:endParaRPr lang="en-US"/>
        </a:p>
      </dgm:t>
    </dgm:pt>
    <dgm:pt modelId="{944ADF94-D412-4856-B128-19353A5E7198}" type="sibTrans" cxnId="{BE5E8A86-CF9E-45DA-B55D-D4542063EDF1}">
      <dgm:prSet/>
      <dgm:spPr/>
      <dgm:t>
        <a:bodyPr/>
        <a:lstStyle/>
        <a:p>
          <a:endParaRPr lang="en-US"/>
        </a:p>
      </dgm:t>
    </dgm:pt>
    <dgm:pt modelId="{FCD3810E-A372-4E96-9F68-7477420564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Compare multiple optimization stacks on:</a:t>
          </a:r>
        </a:p>
      </dgm:t>
    </dgm:pt>
    <dgm:pt modelId="{5A47D48D-D219-44FA-A226-159388C7584F}" type="parTrans" cxnId="{E1ECEB83-D940-436A-A6AB-A7885F124481}">
      <dgm:prSet/>
      <dgm:spPr/>
      <dgm:t>
        <a:bodyPr/>
        <a:lstStyle/>
        <a:p>
          <a:endParaRPr lang="en-US"/>
        </a:p>
      </dgm:t>
    </dgm:pt>
    <dgm:pt modelId="{D36EBF83-800A-40D3-A328-C92F7EC6DD7B}" type="sibTrans" cxnId="{E1ECEB83-D940-436A-A6AB-A7885F124481}">
      <dgm:prSet/>
      <dgm:spPr/>
      <dgm:t>
        <a:bodyPr/>
        <a:lstStyle/>
        <a:p>
          <a:endParaRPr lang="en-US"/>
        </a:p>
      </dgm:t>
    </dgm:pt>
    <dgm:pt modelId="{F962081D-0334-48EF-B1E5-F85C4D92EC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Qubit usage</a:t>
          </a:r>
        </a:p>
      </dgm:t>
    </dgm:pt>
    <dgm:pt modelId="{C79E587B-7C09-4DA5-9B6F-4EB9D50B4375}" type="parTrans" cxnId="{6AAE3274-41F1-4BDE-AA0D-AA2B98C6D39F}">
      <dgm:prSet/>
      <dgm:spPr/>
      <dgm:t>
        <a:bodyPr/>
        <a:lstStyle/>
        <a:p>
          <a:endParaRPr lang="en-US"/>
        </a:p>
      </dgm:t>
    </dgm:pt>
    <dgm:pt modelId="{BDEA8FD4-AEA5-45DA-B49E-D41D8FCAA5F9}" type="sibTrans" cxnId="{6AAE3274-41F1-4BDE-AA0D-AA2B98C6D39F}">
      <dgm:prSet/>
      <dgm:spPr/>
      <dgm:t>
        <a:bodyPr/>
        <a:lstStyle/>
        <a:p>
          <a:endParaRPr lang="en-US"/>
        </a:p>
      </dgm:t>
    </dgm:pt>
    <dgm:pt modelId="{DD395237-3525-4440-92CD-44BCB0A104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Gate count and depth</a:t>
          </a:r>
        </a:p>
      </dgm:t>
    </dgm:pt>
    <dgm:pt modelId="{A52B3AA9-6D0E-440D-9E71-CC7F36A93028}" type="parTrans" cxnId="{7FC5A2B4-CF55-4821-B162-2A4E91F06289}">
      <dgm:prSet/>
      <dgm:spPr/>
      <dgm:t>
        <a:bodyPr/>
        <a:lstStyle/>
        <a:p>
          <a:endParaRPr lang="en-US"/>
        </a:p>
      </dgm:t>
    </dgm:pt>
    <dgm:pt modelId="{730F5663-1CE6-4C3C-9071-6A4DF903A99D}" type="sibTrans" cxnId="{7FC5A2B4-CF55-4821-B162-2A4E91F06289}">
      <dgm:prSet/>
      <dgm:spPr/>
      <dgm:t>
        <a:bodyPr/>
        <a:lstStyle/>
        <a:p>
          <a:endParaRPr lang="en-US"/>
        </a:p>
      </dgm:t>
    </dgm:pt>
    <dgm:pt modelId="{EBC3F782-1F45-442B-A2AA-839AF78E8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Fidelity</a:t>
          </a:r>
        </a:p>
      </dgm:t>
    </dgm:pt>
    <dgm:pt modelId="{54081456-5980-4899-9540-EA67AB31E5AF}" type="parTrans" cxnId="{3EFCBBFA-37B3-45B9-AA85-C48006B67B89}">
      <dgm:prSet/>
      <dgm:spPr/>
      <dgm:t>
        <a:bodyPr/>
        <a:lstStyle/>
        <a:p>
          <a:endParaRPr lang="en-US"/>
        </a:p>
      </dgm:t>
    </dgm:pt>
    <dgm:pt modelId="{2FB963A4-196C-48D6-96DC-0EF68E0784A6}" type="sibTrans" cxnId="{3EFCBBFA-37B3-45B9-AA85-C48006B67B89}">
      <dgm:prSet/>
      <dgm:spPr/>
      <dgm:t>
        <a:bodyPr/>
        <a:lstStyle/>
        <a:p>
          <a:endParaRPr lang="en-US"/>
        </a:p>
      </dgm:t>
    </dgm:pt>
    <dgm:pt modelId="{7CFBFAE6-CBC3-46C9-9554-0A82C5BA7A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Facilitate reproducible experiments across toolchains</a:t>
          </a:r>
        </a:p>
      </dgm:t>
    </dgm:pt>
    <dgm:pt modelId="{52CA4A03-67B3-4EA5-A780-37F0FDA87D6D}" type="parTrans" cxnId="{6A22C608-10BC-4C43-9534-715AA3EE2247}">
      <dgm:prSet/>
      <dgm:spPr/>
      <dgm:t>
        <a:bodyPr/>
        <a:lstStyle/>
        <a:p>
          <a:endParaRPr lang="en-US"/>
        </a:p>
      </dgm:t>
    </dgm:pt>
    <dgm:pt modelId="{CA9CDB36-174A-4CA1-88E4-52B77D7A7555}" type="sibTrans" cxnId="{6A22C608-10BC-4C43-9534-715AA3EE2247}">
      <dgm:prSet/>
      <dgm:spPr/>
      <dgm:t>
        <a:bodyPr/>
        <a:lstStyle/>
        <a:p>
          <a:endParaRPr lang="en-US"/>
        </a:p>
      </dgm:t>
    </dgm:pt>
    <dgm:pt modelId="{77A6A4C0-BF3B-4431-9243-4E9BADA41FF4}" type="pres">
      <dgm:prSet presAssocID="{59B992B3-52BA-407A-A8C1-39AF47B01017}" presName="root" presStyleCnt="0">
        <dgm:presLayoutVars>
          <dgm:dir/>
          <dgm:resizeHandles val="exact"/>
        </dgm:presLayoutVars>
      </dgm:prSet>
      <dgm:spPr/>
    </dgm:pt>
    <dgm:pt modelId="{31B52B34-509C-4611-9D55-5C190517EF52}" type="pres">
      <dgm:prSet presAssocID="{0542B967-309B-4E48-AC5A-06C2FDB77BAD}" presName="compNode" presStyleCnt="0"/>
      <dgm:spPr/>
    </dgm:pt>
    <dgm:pt modelId="{51FA704D-2D6D-4965-B2A7-918F29EBDE73}" type="pres">
      <dgm:prSet presAssocID="{0542B967-309B-4E48-AC5A-06C2FDB77B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3A67FDC-63D6-4534-92E0-73D974ABDDE6}" type="pres">
      <dgm:prSet presAssocID="{0542B967-309B-4E48-AC5A-06C2FDB77BAD}" presName="iconSpace" presStyleCnt="0"/>
      <dgm:spPr/>
    </dgm:pt>
    <dgm:pt modelId="{EF4078ED-8B37-4153-8E84-2B8BC3CEEA1D}" type="pres">
      <dgm:prSet presAssocID="{0542B967-309B-4E48-AC5A-06C2FDB77BAD}" presName="parTx" presStyleLbl="revTx" presStyleIdx="0" presStyleCnt="8">
        <dgm:presLayoutVars>
          <dgm:chMax val="0"/>
          <dgm:chPref val="0"/>
        </dgm:presLayoutVars>
      </dgm:prSet>
      <dgm:spPr/>
    </dgm:pt>
    <dgm:pt modelId="{81CE847B-D88C-49D8-8DBF-EA79CB160C75}" type="pres">
      <dgm:prSet presAssocID="{0542B967-309B-4E48-AC5A-06C2FDB77BAD}" presName="txSpace" presStyleCnt="0"/>
      <dgm:spPr/>
    </dgm:pt>
    <dgm:pt modelId="{33FC062C-0528-4F06-8E84-B85BAA17B2DD}" type="pres">
      <dgm:prSet presAssocID="{0542B967-309B-4E48-AC5A-06C2FDB77BAD}" presName="desTx" presStyleLbl="revTx" presStyleIdx="1" presStyleCnt="8">
        <dgm:presLayoutVars/>
      </dgm:prSet>
      <dgm:spPr/>
    </dgm:pt>
    <dgm:pt modelId="{89FAD638-F700-4B06-9FFF-A15C8AA44458}" type="pres">
      <dgm:prSet presAssocID="{2F00F786-C2D6-49EF-A296-4CBB40D63E3F}" presName="sibTrans" presStyleCnt="0"/>
      <dgm:spPr/>
    </dgm:pt>
    <dgm:pt modelId="{E8341CD2-8DCA-41AA-8B4E-1BEB8D643AC0}" type="pres">
      <dgm:prSet presAssocID="{4CD2A9C8-39EA-43A3-B70F-FFCB6BD2489F}" presName="compNode" presStyleCnt="0"/>
      <dgm:spPr/>
    </dgm:pt>
    <dgm:pt modelId="{C53EE6D0-C27B-403E-A4C7-D9917776A15D}" type="pres">
      <dgm:prSet presAssocID="{4CD2A9C8-39EA-43A3-B70F-FFCB6BD2489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46B756A5-F086-4E69-9190-9BDDCC948689}" type="pres">
      <dgm:prSet presAssocID="{4CD2A9C8-39EA-43A3-B70F-FFCB6BD2489F}" presName="iconSpace" presStyleCnt="0"/>
      <dgm:spPr/>
    </dgm:pt>
    <dgm:pt modelId="{3FB9845F-4F02-4776-B138-2344494A9F87}" type="pres">
      <dgm:prSet presAssocID="{4CD2A9C8-39EA-43A3-B70F-FFCB6BD2489F}" presName="parTx" presStyleLbl="revTx" presStyleIdx="2" presStyleCnt="8">
        <dgm:presLayoutVars>
          <dgm:chMax val="0"/>
          <dgm:chPref val="0"/>
        </dgm:presLayoutVars>
      </dgm:prSet>
      <dgm:spPr/>
    </dgm:pt>
    <dgm:pt modelId="{8CFF33DA-336B-464E-ADEC-4931F343D889}" type="pres">
      <dgm:prSet presAssocID="{4CD2A9C8-39EA-43A3-B70F-FFCB6BD2489F}" presName="txSpace" presStyleCnt="0"/>
      <dgm:spPr/>
    </dgm:pt>
    <dgm:pt modelId="{6E517181-15C0-4953-8AC4-7AAF649791DC}" type="pres">
      <dgm:prSet presAssocID="{4CD2A9C8-39EA-43A3-B70F-FFCB6BD2489F}" presName="desTx" presStyleLbl="revTx" presStyleIdx="3" presStyleCnt="8">
        <dgm:presLayoutVars/>
      </dgm:prSet>
      <dgm:spPr/>
    </dgm:pt>
    <dgm:pt modelId="{D7A3D409-2E9F-4841-B5FF-523C658F40FF}" type="pres">
      <dgm:prSet presAssocID="{8CFB8248-F219-479F-8AE5-F53AF041C811}" presName="sibTrans" presStyleCnt="0"/>
      <dgm:spPr/>
    </dgm:pt>
    <dgm:pt modelId="{2E0732FD-837F-4718-B9DF-10BB8B7B00DF}" type="pres">
      <dgm:prSet presAssocID="{5EB85A88-5CCF-40D5-9C89-1B3A2BF12C91}" presName="compNode" presStyleCnt="0"/>
      <dgm:spPr/>
    </dgm:pt>
    <dgm:pt modelId="{3359379F-5064-4366-AEB5-A0FE8DD6AC62}" type="pres">
      <dgm:prSet presAssocID="{5EB85A88-5CCF-40D5-9C89-1B3A2BF12C9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562CE9F-614E-423E-8978-B938C21092C3}" type="pres">
      <dgm:prSet presAssocID="{5EB85A88-5CCF-40D5-9C89-1B3A2BF12C91}" presName="iconSpace" presStyleCnt="0"/>
      <dgm:spPr/>
    </dgm:pt>
    <dgm:pt modelId="{AB74993F-F9E7-4876-99D1-EC99353DB3D0}" type="pres">
      <dgm:prSet presAssocID="{5EB85A88-5CCF-40D5-9C89-1B3A2BF12C91}" presName="parTx" presStyleLbl="revTx" presStyleIdx="4" presStyleCnt="8">
        <dgm:presLayoutVars>
          <dgm:chMax val="0"/>
          <dgm:chPref val="0"/>
        </dgm:presLayoutVars>
      </dgm:prSet>
      <dgm:spPr/>
    </dgm:pt>
    <dgm:pt modelId="{0B69B701-95B6-4335-9824-12EE628223FB}" type="pres">
      <dgm:prSet presAssocID="{5EB85A88-5CCF-40D5-9C89-1B3A2BF12C91}" presName="txSpace" presStyleCnt="0"/>
      <dgm:spPr/>
    </dgm:pt>
    <dgm:pt modelId="{77A01C84-3587-4A1C-BEE8-D0AC95CEEA25}" type="pres">
      <dgm:prSet presAssocID="{5EB85A88-5CCF-40D5-9C89-1B3A2BF12C91}" presName="desTx" presStyleLbl="revTx" presStyleIdx="5" presStyleCnt="8">
        <dgm:presLayoutVars/>
      </dgm:prSet>
      <dgm:spPr/>
    </dgm:pt>
    <dgm:pt modelId="{A939D7BC-973B-439D-B54F-846D2732FE81}" type="pres">
      <dgm:prSet presAssocID="{A8332710-DB96-4CE1-97F0-47E853C0213C}" presName="sibTrans" presStyleCnt="0"/>
      <dgm:spPr/>
    </dgm:pt>
    <dgm:pt modelId="{2B28AD61-D3A9-4401-95DC-C4B238D139F3}" type="pres">
      <dgm:prSet presAssocID="{B2E61908-D5C1-4CA2-9635-33BC52B62F49}" presName="compNode" presStyleCnt="0"/>
      <dgm:spPr/>
    </dgm:pt>
    <dgm:pt modelId="{1E9235BA-B1D0-4C38-AA3B-34ABBB8C950C}" type="pres">
      <dgm:prSet presAssocID="{B2E61908-D5C1-4CA2-9635-33BC52B62F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0A6734C-4504-4065-AF0A-0A65FEC8B9AE}" type="pres">
      <dgm:prSet presAssocID="{B2E61908-D5C1-4CA2-9635-33BC52B62F49}" presName="iconSpace" presStyleCnt="0"/>
      <dgm:spPr/>
    </dgm:pt>
    <dgm:pt modelId="{B1EC1DDA-CFB6-4D8A-A779-EFBCCCA343CA}" type="pres">
      <dgm:prSet presAssocID="{B2E61908-D5C1-4CA2-9635-33BC52B62F49}" presName="parTx" presStyleLbl="revTx" presStyleIdx="6" presStyleCnt="8">
        <dgm:presLayoutVars>
          <dgm:chMax val="0"/>
          <dgm:chPref val="0"/>
        </dgm:presLayoutVars>
      </dgm:prSet>
      <dgm:spPr/>
    </dgm:pt>
    <dgm:pt modelId="{A44CAC7D-9006-40ED-9A5D-F291E0FB6E7E}" type="pres">
      <dgm:prSet presAssocID="{B2E61908-D5C1-4CA2-9635-33BC52B62F49}" presName="txSpace" presStyleCnt="0"/>
      <dgm:spPr/>
    </dgm:pt>
    <dgm:pt modelId="{BA6975CF-B654-4873-8FBB-7EEDF10F0494}" type="pres">
      <dgm:prSet presAssocID="{B2E61908-D5C1-4CA2-9635-33BC52B62F49}" presName="desTx" presStyleLbl="revTx" presStyleIdx="7" presStyleCnt="8">
        <dgm:presLayoutVars/>
      </dgm:prSet>
      <dgm:spPr/>
    </dgm:pt>
  </dgm:ptLst>
  <dgm:cxnLst>
    <dgm:cxn modelId="{E6635A00-6C01-4F83-BEF3-9E5DC13563D5}" type="presOf" srcId="{87AD5646-68B1-4453-8BE4-DC75C7307DF8}" destId="{6E517181-15C0-4953-8AC4-7AAF649791DC}" srcOrd="0" destOrd="1" presId="urn:microsoft.com/office/officeart/2018/5/layout/CenteredIconLabelDescriptionList"/>
    <dgm:cxn modelId="{1D3CC004-E2E6-40B0-ADF2-870DF890B55F}" type="presOf" srcId="{FCD3810E-A372-4E96-9F68-7477420564A2}" destId="{BA6975CF-B654-4873-8FBB-7EEDF10F0494}" srcOrd="0" destOrd="0" presId="urn:microsoft.com/office/officeart/2018/5/layout/CenteredIconLabelDescriptionList"/>
    <dgm:cxn modelId="{BCB9F104-CFAC-4B8A-88A2-7025391583C7}" type="presOf" srcId="{533423BC-BEFF-4E67-90AF-4CA6F83D3E9E}" destId="{33FC062C-0528-4F06-8E84-B85BAA17B2DD}" srcOrd="0" destOrd="2" presId="urn:microsoft.com/office/officeart/2018/5/layout/CenteredIconLabelDescriptionList"/>
    <dgm:cxn modelId="{6A22C608-10BC-4C43-9534-715AA3EE2247}" srcId="{B2E61908-D5C1-4CA2-9635-33BC52B62F49}" destId="{7CFBFAE6-CBC3-46C9-9554-0A82C5BA7A3C}" srcOrd="4" destOrd="0" parTransId="{52CA4A03-67B3-4EA5-A780-37F0FDA87D6D}" sibTransId="{CA9CDB36-174A-4CA1-88E4-52B77D7A7555}"/>
    <dgm:cxn modelId="{E9326D0A-8411-4C54-A90B-E9C42B30B3DC}" type="presOf" srcId="{EB0A3A68-3158-4B2E-9B3A-D9BBBD4C757D}" destId="{6E517181-15C0-4953-8AC4-7AAF649791DC}" srcOrd="0" destOrd="2" presId="urn:microsoft.com/office/officeart/2018/5/layout/CenteredIconLabelDescriptionList"/>
    <dgm:cxn modelId="{65C92D17-718A-459A-A5B4-C8AF5696CEAF}" srcId="{0542B967-309B-4E48-AC5A-06C2FDB77BAD}" destId="{BF6A82E0-E742-405E-9727-42B869A18583}" srcOrd="1" destOrd="0" parTransId="{A80C8E60-5B11-459D-A8CD-15392EC4BA27}" sibTransId="{FF17BA83-FC50-47A1-B545-26CA02CDEEAD}"/>
    <dgm:cxn modelId="{4A5EE318-0494-426F-9E28-C43228C65E32}" type="presOf" srcId="{DE8B1C2A-23A8-4699-9A11-B5F0E8A1AC29}" destId="{6E517181-15C0-4953-8AC4-7AAF649791DC}" srcOrd="0" destOrd="0" presId="urn:microsoft.com/office/officeart/2018/5/layout/CenteredIconLabelDescriptionList"/>
    <dgm:cxn modelId="{D86E191B-40DF-4C1B-A10D-407924ADAC69}" type="presOf" srcId="{4CD2A9C8-39EA-43A3-B70F-FFCB6BD2489F}" destId="{3FB9845F-4F02-4776-B138-2344494A9F87}" srcOrd="0" destOrd="0" presId="urn:microsoft.com/office/officeart/2018/5/layout/CenteredIconLabelDescriptionList"/>
    <dgm:cxn modelId="{3CD23F3E-22E8-4C33-9C6B-E3730597ED81}" srcId="{4CD2A9C8-39EA-43A3-B70F-FFCB6BD2489F}" destId="{87AD5646-68B1-4453-8BE4-DC75C7307DF8}" srcOrd="1" destOrd="0" parTransId="{3C651A3B-7CA3-443D-8B2A-D64C03DD4F30}" sibTransId="{2A14E1B5-E232-49B7-BA43-9D20AF4884DD}"/>
    <dgm:cxn modelId="{48C9004F-7473-408C-BCAE-970087C6AFB9}" srcId="{4CD2A9C8-39EA-43A3-B70F-FFCB6BD2489F}" destId="{DE8B1C2A-23A8-4699-9A11-B5F0E8A1AC29}" srcOrd="0" destOrd="0" parTransId="{CAE2B7B6-240D-445C-AC37-58772D316D11}" sibTransId="{71BDBD95-2ABC-4EED-83DE-D39AFD65A45F}"/>
    <dgm:cxn modelId="{2FED3A5F-89E9-4A13-A78D-61795F92611E}" srcId="{4CD2A9C8-39EA-43A3-B70F-FFCB6BD2489F}" destId="{EB0A3A68-3158-4B2E-9B3A-D9BBBD4C757D}" srcOrd="2" destOrd="0" parTransId="{B59D4FEF-96D2-4A63-B353-CB7F8586F75D}" sibTransId="{66951393-6AB7-4E02-BAE3-0E23DD1201C8}"/>
    <dgm:cxn modelId="{611B1F69-56C1-4027-91B3-B230A1C6EFCE}" type="presOf" srcId="{59B992B3-52BA-407A-A8C1-39AF47B01017}" destId="{77A6A4C0-BF3B-4431-9243-4E9BADA41FF4}" srcOrd="0" destOrd="0" presId="urn:microsoft.com/office/officeart/2018/5/layout/CenteredIconLabelDescriptionList"/>
    <dgm:cxn modelId="{83177269-80C5-4DE9-B847-E9EC25D6BD4C}" type="presOf" srcId="{B2E61908-D5C1-4CA2-9635-33BC52B62F49}" destId="{B1EC1DDA-CFB6-4D8A-A779-EFBCCCA343CA}" srcOrd="0" destOrd="0" presId="urn:microsoft.com/office/officeart/2018/5/layout/CenteredIconLabelDescriptionList"/>
    <dgm:cxn modelId="{B154A86C-F508-4573-AA5B-BDC506E8E145}" type="presOf" srcId="{F600B810-F190-4C76-BE44-C7A9AFD72533}" destId="{77A01C84-3587-4A1C-BEE8-D0AC95CEEA25}" srcOrd="0" destOrd="1" presId="urn:microsoft.com/office/officeart/2018/5/layout/CenteredIconLabelDescriptionList"/>
    <dgm:cxn modelId="{B0E9416E-7625-473A-9416-EE97E4017AA9}" type="presOf" srcId="{EBC3F782-1F45-442B-A2AA-839AF78E8691}" destId="{BA6975CF-B654-4873-8FBB-7EEDF10F0494}" srcOrd="0" destOrd="3" presId="urn:microsoft.com/office/officeart/2018/5/layout/CenteredIconLabelDescriptionList"/>
    <dgm:cxn modelId="{3C3D5070-4D89-413F-9502-C60FD8E08909}" type="presOf" srcId="{F962081D-0334-48EF-B1E5-F85C4D92ECCD}" destId="{BA6975CF-B654-4873-8FBB-7EEDF10F0494}" srcOrd="0" destOrd="1" presId="urn:microsoft.com/office/officeart/2018/5/layout/CenteredIconLabelDescriptionList"/>
    <dgm:cxn modelId="{03636570-A592-462E-95FE-BF776E39481D}" type="presOf" srcId="{BF6A82E0-E742-405E-9727-42B869A18583}" destId="{33FC062C-0528-4F06-8E84-B85BAA17B2DD}" srcOrd="0" destOrd="1" presId="urn:microsoft.com/office/officeart/2018/5/layout/CenteredIconLabelDescriptionList"/>
    <dgm:cxn modelId="{293CF370-90C5-48D4-BB82-834E144D3BB6}" type="presOf" srcId="{8AB784F0-C0EB-48F7-BEF5-66036AFED2A7}" destId="{77A01C84-3587-4A1C-BEE8-D0AC95CEEA25}" srcOrd="0" destOrd="2" presId="urn:microsoft.com/office/officeart/2018/5/layout/CenteredIconLabelDescriptionList"/>
    <dgm:cxn modelId="{F7972E71-9A77-4BE7-AAAC-508A725BF8DE}" srcId="{59B992B3-52BA-407A-A8C1-39AF47B01017}" destId="{4CD2A9C8-39EA-43A3-B70F-FFCB6BD2489F}" srcOrd="1" destOrd="0" parTransId="{B4BF4277-6A2E-4B82-9FE2-F93194A65802}" sibTransId="{8CFB8248-F219-479F-8AE5-F53AF041C811}"/>
    <dgm:cxn modelId="{6AAE3274-41F1-4BDE-AA0D-AA2B98C6D39F}" srcId="{B2E61908-D5C1-4CA2-9635-33BC52B62F49}" destId="{F962081D-0334-48EF-B1E5-F85C4D92ECCD}" srcOrd="1" destOrd="0" parTransId="{C79E587B-7C09-4DA5-9B6F-4EB9D50B4375}" sibTransId="{BDEA8FD4-AEA5-45DA-B49E-D41D8FCAA5F9}"/>
    <dgm:cxn modelId="{FECEF574-F07B-4077-BD2A-541F8B8699CB}" srcId="{59B992B3-52BA-407A-A8C1-39AF47B01017}" destId="{5EB85A88-5CCF-40D5-9C89-1B3A2BF12C91}" srcOrd="2" destOrd="0" parTransId="{5E0AC74B-FC8D-4359-9191-174AD07259A8}" sibTransId="{A8332710-DB96-4CE1-97F0-47E853C0213C}"/>
    <dgm:cxn modelId="{9961D678-9CAE-4D72-97C1-99046DC330D3}" srcId="{0542B967-309B-4E48-AC5A-06C2FDB77BAD}" destId="{533423BC-BEFF-4E67-90AF-4CA6F83D3E9E}" srcOrd="2" destOrd="0" parTransId="{880C50D6-CA53-4509-B6D8-19943C437FE7}" sibTransId="{4C0817EA-DFAA-4476-8618-DE1C1DF9A3E8}"/>
    <dgm:cxn modelId="{E1ECEB83-D940-436A-A6AB-A7885F124481}" srcId="{B2E61908-D5C1-4CA2-9635-33BC52B62F49}" destId="{FCD3810E-A372-4E96-9F68-7477420564A2}" srcOrd="0" destOrd="0" parTransId="{5A47D48D-D219-44FA-A226-159388C7584F}" sibTransId="{D36EBF83-800A-40D3-A328-C92F7EC6DD7B}"/>
    <dgm:cxn modelId="{BE5E8A86-CF9E-45DA-B55D-D4542063EDF1}" srcId="{59B992B3-52BA-407A-A8C1-39AF47B01017}" destId="{B2E61908-D5C1-4CA2-9635-33BC52B62F49}" srcOrd="3" destOrd="0" parTransId="{5635F84B-3294-4532-A43C-3F74C6C7821D}" sibTransId="{944ADF94-D412-4856-B128-19353A5E7198}"/>
    <dgm:cxn modelId="{EBAAE68D-F140-421E-AE20-02E19D901E3A}" type="presOf" srcId="{029C1F7E-D24D-4F6A-B56F-9AB756A0277F}" destId="{33FC062C-0528-4F06-8E84-B85BAA17B2DD}" srcOrd="0" destOrd="0" presId="urn:microsoft.com/office/officeart/2018/5/layout/CenteredIconLabelDescriptionList"/>
    <dgm:cxn modelId="{784BA39A-9915-45E7-8983-149113C1FB85}" type="presOf" srcId="{3A93737F-C429-4823-BD86-7D221B9065EA}" destId="{77A01C84-3587-4A1C-BEE8-D0AC95CEEA25}" srcOrd="0" destOrd="0" presId="urn:microsoft.com/office/officeart/2018/5/layout/CenteredIconLabelDescriptionList"/>
    <dgm:cxn modelId="{DBC9DD9C-0332-4627-A5EE-4976620EBBE7}" type="presOf" srcId="{7CFBFAE6-CBC3-46C9-9554-0A82C5BA7A3C}" destId="{BA6975CF-B654-4873-8FBB-7EEDF10F0494}" srcOrd="0" destOrd="4" presId="urn:microsoft.com/office/officeart/2018/5/layout/CenteredIconLabelDescriptionList"/>
    <dgm:cxn modelId="{DC5799A0-7B63-4FDE-A9CC-91AC9F39E2F3}" srcId="{5EB85A88-5CCF-40D5-9C89-1B3A2BF12C91}" destId="{8AB784F0-C0EB-48F7-BEF5-66036AFED2A7}" srcOrd="2" destOrd="0" parTransId="{F64A3234-B655-413B-9751-E1EDC356EA8F}" sibTransId="{63C8FE1F-9E02-467E-AAA4-DEB289815641}"/>
    <dgm:cxn modelId="{3B75F7AF-4C20-4D8A-8554-70C1A2B5A557}" type="presOf" srcId="{DD395237-3525-4440-92CD-44BCB0A10401}" destId="{BA6975CF-B654-4873-8FBB-7EEDF10F0494}" srcOrd="0" destOrd="2" presId="urn:microsoft.com/office/officeart/2018/5/layout/CenteredIconLabelDescriptionList"/>
    <dgm:cxn modelId="{7FC5A2B4-CF55-4821-B162-2A4E91F06289}" srcId="{B2E61908-D5C1-4CA2-9635-33BC52B62F49}" destId="{DD395237-3525-4440-92CD-44BCB0A10401}" srcOrd="2" destOrd="0" parTransId="{A52B3AA9-6D0E-440D-9E71-CC7F36A93028}" sibTransId="{730F5663-1CE6-4C3C-9071-6A4DF903A99D}"/>
    <dgm:cxn modelId="{9A9832B5-A96A-4F8D-886E-E1CEDE878C84}" srcId="{0542B967-309B-4E48-AC5A-06C2FDB77BAD}" destId="{029C1F7E-D24D-4F6A-B56F-9AB756A0277F}" srcOrd="0" destOrd="0" parTransId="{463F6BD9-8C2E-46D3-8A04-2D8AD9C4A7C5}" sibTransId="{E8F546C9-CD0C-44A3-A3C3-ED520F434087}"/>
    <dgm:cxn modelId="{42E767C9-519F-4BA0-BC99-7BAC01F002A4}" type="presOf" srcId="{0542B967-309B-4E48-AC5A-06C2FDB77BAD}" destId="{EF4078ED-8B37-4153-8E84-2B8BC3CEEA1D}" srcOrd="0" destOrd="0" presId="urn:microsoft.com/office/officeart/2018/5/layout/CenteredIconLabelDescriptionList"/>
    <dgm:cxn modelId="{A950E9CB-DB1F-44C3-A446-6BAAB6CAE71B}" srcId="{5EB85A88-5CCF-40D5-9C89-1B3A2BF12C91}" destId="{F600B810-F190-4C76-BE44-C7A9AFD72533}" srcOrd="1" destOrd="0" parTransId="{7F5C32FB-DA1A-4906-B20E-89C1DE0FC004}" sibTransId="{8F1983F7-CCB2-4E99-86AC-6691DA40EB27}"/>
    <dgm:cxn modelId="{934381DF-ECBA-437D-AD09-4E88AF2D60A7}" srcId="{59B992B3-52BA-407A-A8C1-39AF47B01017}" destId="{0542B967-309B-4E48-AC5A-06C2FDB77BAD}" srcOrd="0" destOrd="0" parTransId="{C6A55462-9B4B-4192-9334-776C98EEA66C}" sibTransId="{2F00F786-C2D6-49EF-A296-4CBB40D63E3F}"/>
    <dgm:cxn modelId="{3EFCBBFA-37B3-45B9-AA85-C48006B67B89}" srcId="{B2E61908-D5C1-4CA2-9635-33BC52B62F49}" destId="{EBC3F782-1F45-442B-A2AA-839AF78E8691}" srcOrd="3" destOrd="0" parTransId="{54081456-5980-4899-9540-EA67AB31E5AF}" sibTransId="{2FB963A4-196C-48D6-96DC-0EF68E0784A6}"/>
    <dgm:cxn modelId="{57F8B1FC-D213-41B5-8382-F7280579ECE6}" type="presOf" srcId="{5EB85A88-5CCF-40D5-9C89-1B3A2BF12C91}" destId="{AB74993F-F9E7-4876-99D1-EC99353DB3D0}" srcOrd="0" destOrd="0" presId="urn:microsoft.com/office/officeart/2018/5/layout/CenteredIconLabelDescriptionList"/>
    <dgm:cxn modelId="{0275A2FE-213F-449A-84A9-F4EA17E28FA7}" srcId="{5EB85A88-5CCF-40D5-9C89-1B3A2BF12C91}" destId="{3A93737F-C429-4823-BD86-7D221B9065EA}" srcOrd="0" destOrd="0" parTransId="{85981FE5-AA89-4351-B1FD-D8396749683D}" sibTransId="{78F208DF-E941-4E3E-9F8D-BB3AE33E76D1}"/>
    <dgm:cxn modelId="{48932D6D-6D88-4961-9822-A4B5E210B048}" type="presParOf" srcId="{77A6A4C0-BF3B-4431-9243-4E9BADA41FF4}" destId="{31B52B34-509C-4611-9D55-5C190517EF52}" srcOrd="0" destOrd="0" presId="urn:microsoft.com/office/officeart/2018/5/layout/CenteredIconLabelDescriptionList"/>
    <dgm:cxn modelId="{A0A2199A-CE8B-40A7-847D-19FDFC330AFE}" type="presParOf" srcId="{31B52B34-509C-4611-9D55-5C190517EF52}" destId="{51FA704D-2D6D-4965-B2A7-918F29EBDE73}" srcOrd="0" destOrd="0" presId="urn:microsoft.com/office/officeart/2018/5/layout/CenteredIconLabelDescriptionList"/>
    <dgm:cxn modelId="{AD44B8A4-202F-40B7-A5DD-C85515359521}" type="presParOf" srcId="{31B52B34-509C-4611-9D55-5C190517EF52}" destId="{B3A67FDC-63D6-4534-92E0-73D974ABDDE6}" srcOrd="1" destOrd="0" presId="urn:microsoft.com/office/officeart/2018/5/layout/CenteredIconLabelDescriptionList"/>
    <dgm:cxn modelId="{F1815AD4-D910-457B-A882-6B049B650E00}" type="presParOf" srcId="{31B52B34-509C-4611-9D55-5C190517EF52}" destId="{EF4078ED-8B37-4153-8E84-2B8BC3CEEA1D}" srcOrd="2" destOrd="0" presId="urn:microsoft.com/office/officeart/2018/5/layout/CenteredIconLabelDescriptionList"/>
    <dgm:cxn modelId="{FF9B74F3-90E2-4BFA-9949-4602BB4D30C3}" type="presParOf" srcId="{31B52B34-509C-4611-9D55-5C190517EF52}" destId="{81CE847B-D88C-49D8-8DBF-EA79CB160C75}" srcOrd="3" destOrd="0" presId="urn:microsoft.com/office/officeart/2018/5/layout/CenteredIconLabelDescriptionList"/>
    <dgm:cxn modelId="{E954D7CA-AA1F-4C78-AFAD-336A2765E903}" type="presParOf" srcId="{31B52B34-509C-4611-9D55-5C190517EF52}" destId="{33FC062C-0528-4F06-8E84-B85BAA17B2DD}" srcOrd="4" destOrd="0" presId="urn:microsoft.com/office/officeart/2018/5/layout/CenteredIconLabelDescriptionList"/>
    <dgm:cxn modelId="{E36997D4-0F2F-4035-B0E2-B597EA658F85}" type="presParOf" srcId="{77A6A4C0-BF3B-4431-9243-4E9BADA41FF4}" destId="{89FAD638-F700-4B06-9FFF-A15C8AA44458}" srcOrd="1" destOrd="0" presId="urn:microsoft.com/office/officeart/2018/5/layout/CenteredIconLabelDescriptionList"/>
    <dgm:cxn modelId="{EE5E3E90-357A-4C28-8707-AF640ACCF4E1}" type="presParOf" srcId="{77A6A4C0-BF3B-4431-9243-4E9BADA41FF4}" destId="{E8341CD2-8DCA-41AA-8B4E-1BEB8D643AC0}" srcOrd="2" destOrd="0" presId="urn:microsoft.com/office/officeart/2018/5/layout/CenteredIconLabelDescriptionList"/>
    <dgm:cxn modelId="{F47055DE-4EA8-4FAB-AC5D-CA2A2A8BFDB7}" type="presParOf" srcId="{E8341CD2-8DCA-41AA-8B4E-1BEB8D643AC0}" destId="{C53EE6D0-C27B-403E-A4C7-D9917776A15D}" srcOrd="0" destOrd="0" presId="urn:microsoft.com/office/officeart/2018/5/layout/CenteredIconLabelDescriptionList"/>
    <dgm:cxn modelId="{4C0857D9-D649-4C65-B41F-C251865D4232}" type="presParOf" srcId="{E8341CD2-8DCA-41AA-8B4E-1BEB8D643AC0}" destId="{46B756A5-F086-4E69-9190-9BDDCC948689}" srcOrd="1" destOrd="0" presId="urn:microsoft.com/office/officeart/2018/5/layout/CenteredIconLabelDescriptionList"/>
    <dgm:cxn modelId="{8699AAE6-2568-49CE-9454-01C18963C428}" type="presParOf" srcId="{E8341CD2-8DCA-41AA-8B4E-1BEB8D643AC0}" destId="{3FB9845F-4F02-4776-B138-2344494A9F87}" srcOrd="2" destOrd="0" presId="urn:microsoft.com/office/officeart/2018/5/layout/CenteredIconLabelDescriptionList"/>
    <dgm:cxn modelId="{39CE7E98-1EED-463A-AE3C-53F20E9BDB74}" type="presParOf" srcId="{E8341CD2-8DCA-41AA-8B4E-1BEB8D643AC0}" destId="{8CFF33DA-336B-464E-ADEC-4931F343D889}" srcOrd="3" destOrd="0" presId="urn:microsoft.com/office/officeart/2018/5/layout/CenteredIconLabelDescriptionList"/>
    <dgm:cxn modelId="{06ABB8D0-38A9-4FDB-A83F-51B31A0057F2}" type="presParOf" srcId="{E8341CD2-8DCA-41AA-8B4E-1BEB8D643AC0}" destId="{6E517181-15C0-4953-8AC4-7AAF649791DC}" srcOrd="4" destOrd="0" presId="urn:microsoft.com/office/officeart/2018/5/layout/CenteredIconLabelDescriptionList"/>
    <dgm:cxn modelId="{47CD0A70-535B-4E9B-9AC0-347237BE6A62}" type="presParOf" srcId="{77A6A4C0-BF3B-4431-9243-4E9BADA41FF4}" destId="{D7A3D409-2E9F-4841-B5FF-523C658F40FF}" srcOrd="3" destOrd="0" presId="urn:microsoft.com/office/officeart/2018/5/layout/CenteredIconLabelDescriptionList"/>
    <dgm:cxn modelId="{32482BCD-3033-420A-B876-07AE0A8B27CD}" type="presParOf" srcId="{77A6A4C0-BF3B-4431-9243-4E9BADA41FF4}" destId="{2E0732FD-837F-4718-B9DF-10BB8B7B00DF}" srcOrd="4" destOrd="0" presId="urn:microsoft.com/office/officeart/2018/5/layout/CenteredIconLabelDescriptionList"/>
    <dgm:cxn modelId="{0D5150A4-1B1E-42D1-B755-65E7FC714E08}" type="presParOf" srcId="{2E0732FD-837F-4718-B9DF-10BB8B7B00DF}" destId="{3359379F-5064-4366-AEB5-A0FE8DD6AC62}" srcOrd="0" destOrd="0" presId="urn:microsoft.com/office/officeart/2018/5/layout/CenteredIconLabelDescriptionList"/>
    <dgm:cxn modelId="{812062B3-3B90-4FD5-9B82-A2847F92F7A0}" type="presParOf" srcId="{2E0732FD-837F-4718-B9DF-10BB8B7B00DF}" destId="{D562CE9F-614E-423E-8978-B938C21092C3}" srcOrd="1" destOrd="0" presId="urn:microsoft.com/office/officeart/2018/5/layout/CenteredIconLabelDescriptionList"/>
    <dgm:cxn modelId="{7701AA19-4F0C-4DBC-A66D-F9A74B0A8FD1}" type="presParOf" srcId="{2E0732FD-837F-4718-B9DF-10BB8B7B00DF}" destId="{AB74993F-F9E7-4876-99D1-EC99353DB3D0}" srcOrd="2" destOrd="0" presId="urn:microsoft.com/office/officeart/2018/5/layout/CenteredIconLabelDescriptionList"/>
    <dgm:cxn modelId="{A433FB47-B26A-44AB-BC6F-6804B349270B}" type="presParOf" srcId="{2E0732FD-837F-4718-B9DF-10BB8B7B00DF}" destId="{0B69B701-95B6-4335-9824-12EE628223FB}" srcOrd="3" destOrd="0" presId="urn:microsoft.com/office/officeart/2018/5/layout/CenteredIconLabelDescriptionList"/>
    <dgm:cxn modelId="{F855DE76-8701-4FB4-9E24-4BF177EF8211}" type="presParOf" srcId="{2E0732FD-837F-4718-B9DF-10BB8B7B00DF}" destId="{77A01C84-3587-4A1C-BEE8-D0AC95CEEA25}" srcOrd="4" destOrd="0" presId="urn:microsoft.com/office/officeart/2018/5/layout/CenteredIconLabelDescriptionList"/>
    <dgm:cxn modelId="{6B4DB47E-ABB0-4867-A88C-315989B618F8}" type="presParOf" srcId="{77A6A4C0-BF3B-4431-9243-4E9BADA41FF4}" destId="{A939D7BC-973B-439D-B54F-846D2732FE81}" srcOrd="5" destOrd="0" presId="urn:microsoft.com/office/officeart/2018/5/layout/CenteredIconLabelDescriptionList"/>
    <dgm:cxn modelId="{50EA98D9-1EED-4717-8E4D-874674AAB606}" type="presParOf" srcId="{77A6A4C0-BF3B-4431-9243-4E9BADA41FF4}" destId="{2B28AD61-D3A9-4401-95DC-C4B238D139F3}" srcOrd="6" destOrd="0" presId="urn:microsoft.com/office/officeart/2018/5/layout/CenteredIconLabelDescriptionList"/>
    <dgm:cxn modelId="{B1F30A42-83EB-4137-AD17-B7AF1D36E893}" type="presParOf" srcId="{2B28AD61-D3A9-4401-95DC-C4B238D139F3}" destId="{1E9235BA-B1D0-4C38-AA3B-34ABBB8C950C}" srcOrd="0" destOrd="0" presId="urn:microsoft.com/office/officeart/2018/5/layout/CenteredIconLabelDescriptionList"/>
    <dgm:cxn modelId="{4DC68070-0A05-416E-83B5-C11855D26C9F}" type="presParOf" srcId="{2B28AD61-D3A9-4401-95DC-C4B238D139F3}" destId="{D0A6734C-4504-4065-AF0A-0A65FEC8B9AE}" srcOrd="1" destOrd="0" presId="urn:microsoft.com/office/officeart/2018/5/layout/CenteredIconLabelDescriptionList"/>
    <dgm:cxn modelId="{205D1D81-138C-4ADC-A227-B7AF59D3C393}" type="presParOf" srcId="{2B28AD61-D3A9-4401-95DC-C4B238D139F3}" destId="{B1EC1DDA-CFB6-4D8A-A779-EFBCCCA343CA}" srcOrd="2" destOrd="0" presId="urn:microsoft.com/office/officeart/2018/5/layout/CenteredIconLabelDescriptionList"/>
    <dgm:cxn modelId="{EB7C7B0A-8FE6-4FFC-AEE9-871B1D3BFA85}" type="presParOf" srcId="{2B28AD61-D3A9-4401-95DC-C4B238D139F3}" destId="{A44CAC7D-9006-40ED-9A5D-F291E0FB6E7E}" srcOrd="3" destOrd="0" presId="urn:microsoft.com/office/officeart/2018/5/layout/CenteredIconLabelDescriptionList"/>
    <dgm:cxn modelId="{3BCC3143-A29C-4477-9F53-6AE0D0C51B06}" type="presParOf" srcId="{2B28AD61-D3A9-4401-95DC-C4B238D139F3}" destId="{BA6975CF-B654-4873-8FBB-7EEDF10F049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E60E0-5D60-4BD4-B7E4-F51B6B532F02}">
      <dsp:nvSpPr>
        <dsp:cNvPr id="0" name=""/>
        <dsp:cNvSpPr/>
      </dsp:nvSpPr>
      <dsp:spPr>
        <a:xfrm>
          <a:off x="317010" y="910187"/>
          <a:ext cx="989701" cy="989701"/>
        </a:xfrm>
        <a:prstGeom prst="ellipse">
          <a:avLst/>
        </a:prstGeom>
        <a:solidFill>
          <a:srgbClr val="659BD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291B91-C276-4FD5-BCDA-F6F053DE5B2B}">
      <dsp:nvSpPr>
        <dsp:cNvPr id="0" name=""/>
        <dsp:cNvSpPr/>
      </dsp:nvSpPr>
      <dsp:spPr>
        <a:xfrm>
          <a:off x="527930" y="1121107"/>
          <a:ext cx="567861" cy="5678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DF088-5AA5-41CF-A4F1-BC87C0760356}">
      <dsp:nvSpPr>
        <dsp:cNvPr id="0" name=""/>
        <dsp:cNvSpPr/>
      </dsp:nvSpPr>
      <dsp:spPr>
        <a:xfrm>
          <a:off x="630" y="2208156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Introduction and goals</a:t>
          </a:r>
        </a:p>
      </dsp:txBody>
      <dsp:txXfrm>
        <a:off x="630" y="2208156"/>
        <a:ext cx="1622460" cy="648984"/>
      </dsp:txXfrm>
    </dsp:sp>
    <dsp:sp modelId="{BA5266B8-166D-4BBE-A7D9-77C3F9AAFAFA}">
      <dsp:nvSpPr>
        <dsp:cNvPr id="0" name=""/>
        <dsp:cNvSpPr/>
      </dsp:nvSpPr>
      <dsp:spPr>
        <a:xfrm>
          <a:off x="2223402" y="910187"/>
          <a:ext cx="989701" cy="989701"/>
        </a:xfrm>
        <a:prstGeom prst="ellipse">
          <a:avLst/>
        </a:prstGeom>
        <a:solidFill>
          <a:srgbClr val="659BD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9F898-F167-42C4-A368-6B203D021D92}">
      <dsp:nvSpPr>
        <dsp:cNvPr id="0" name=""/>
        <dsp:cNvSpPr/>
      </dsp:nvSpPr>
      <dsp:spPr>
        <a:xfrm>
          <a:off x="2434321" y="1121107"/>
          <a:ext cx="567861" cy="5678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94F1C-092E-47F6-B044-AD67CA601898}">
      <dsp:nvSpPr>
        <dsp:cNvPr id="0" name=""/>
        <dsp:cNvSpPr/>
      </dsp:nvSpPr>
      <dsp:spPr>
        <a:xfrm>
          <a:off x="1907022" y="2208156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Pipeline Description </a:t>
          </a:r>
        </a:p>
      </dsp:txBody>
      <dsp:txXfrm>
        <a:off x="1907022" y="2208156"/>
        <a:ext cx="1622460" cy="648984"/>
      </dsp:txXfrm>
    </dsp:sp>
    <dsp:sp modelId="{3D48DC12-6D0E-1C45-BE7B-CF3EF6BB9317}">
      <dsp:nvSpPr>
        <dsp:cNvPr id="0" name=""/>
        <dsp:cNvSpPr/>
      </dsp:nvSpPr>
      <dsp:spPr>
        <a:xfrm>
          <a:off x="4129793" y="910187"/>
          <a:ext cx="989701" cy="989701"/>
        </a:xfrm>
        <a:prstGeom prst="ellipse">
          <a:avLst/>
        </a:prstGeom>
        <a:solidFill>
          <a:srgbClr val="659BD2"/>
        </a:solidFill>
        <a:ln>
          <a:solidFill>
            <a:srgbClr val="5EA8DB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2B87BC-91E5-F54D-A7FB-3718810F83E3}">
      <dsp:nvSpPr>
        <dsp:cNvPr id="0" name=""/>
        <dsp:cNvSpPr/>
      </dsp:nvSpPr>
      <dsp:spPr>
        <a:xfrm>
          <a:off x="4340713" y="1121107"/>
          <a:ext cx="567861" cy="5678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6E8C4-51FF-E345-99A3-D22FB346F702}">
      <dsp:nvSpPr>
        <dsp:cNvPr id="0" name=""/>
        <dsp:cNvSpPr/>
      </dsp:nvSpPr>
      <dsp:spPr>
        <a:xfrm>
          <a:off x="3813413" y="2208156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MLIR</a:t>
          </a:r>
          <a:r>
            <a:rPr lang="en-US" sz="1400" kern="1200" baseline="0"/>
            <a:t> And </a:t>
          </a:r>
          <a:r>
            <a:rPr lang="en-US" sz="1400" kern="1200" baseline="0" err="1"/>
            <a:t>qMLIR</a:t>
          </a:r>
          <a:endParaRPr lang="en-US" sz="1400" kern="1200" baseline="0"/>
        </a:p>
      </dsp:txBody>
      <dsp:txXfrm>
        <a:off x="3813413" y="2208156"/>
        <a:ext cx="1622460" cy="648984"/>
      </dsp:txXfrm>
    </dsp:sp>
    <dsp:sp modelId="{3EAA7D46-7C46-E749-B6B1-30FEC3990C3B}">
      <dsp:nvSpPr>
        <dsp:cNvPr id="0" name=""/>
        <dsp:cNvSpPr/>
      </dsp:nvSpPr>
      <dsp:spPr>
        <a:xfrm>
          <a:off x="6036185" y="910187"/>
          <a:ext cx="989701" cy="989701"/>
        </a:xfrm>
        <a:prstGeom prst="ellipse">
          <a:avLst/>
        </a:prstGeom>
        <a:solidFill>
          <a:srgbClr val="659BD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CBD35-0AEF-A84E-A021-F6698CC3083C}">
      <dsp:nvSpPr>
        <dsp:cNvPr id="0" name=""/>
        <dsp:cNvSpPr/>
      </dsp:nvSpPr>
      <dsp:spPr>
        <a:xfrm>
          <a:off x="6247105" y="1121107"/>
          <a:ext cx="567861" cy="5678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EE217-0E85-174B-AFCC-4BB316DDC7B9}">
      <dsp:nvSpPr>
        <dsp:cNvPr id="0" name=""/>
        <dsp:cNvSpPr/>
      </dsp:nvSpPr>
      <dsp:spPr>
        <a:xfrm>
          <a:off x="5719805" y="2208156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Translation of C logic</a:t>
          </a:r>
        </a:p>
      </dsp:txBody>
      <dsp:txXfrm>
        <a:off x="5719805" y="2208156"/>
        <a:ext cx="1622460" cy="648984"/>
      </dsp:txXfrm>
    </dsp:sp>
    <dsp:sp modelId="{FFE9B8A3-809D-4A4A-BFB1-92128C9E40C7}">
      <dsp:nvSpPr>
        <dsp:cNvPr id="0" name=""/>
        <dsp:cNvSpPr/>
      </dsp:nvSpPr>
      <dsp:spPr>
        <a:xfrm>
          <a:off x="7942576" y="910187"/>
          <a:ext cx="989701" cy="989701"/>
        </a:xfrm>
        <a:prstGeom prst="ellipse">
          <a:avLst/>
        </a:prstGeom>
        <a:solidFill>
          <a:srgbClr val="659BD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AE65C-1D4C-4B2D-9151-AEF8E87EA607}">
      <dsp:nvSpPr>
        <dsp:cNvPr id="0" name=""/>
        <dsp:cNvSpPr/>
      </dsp:nvSpPr>
      <dsp:spPr>
        <a:xfrm>
          <a:off x="8153496" y="1121107"/>
          <a:ext cx="567861" cy="56786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F644B-451E-4966-8947-584FE632813F}">
      <dsp:nvSpPr>
        <dsp:cNvPr id="0" name=""/>
        <dsp:cNvSpPr/>
      </dsp:nvSpPr>
      <dsp:spPr>
        <a:xfrm>
          <a:off x="7626196" y="2208156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Performance analysis </a:t>
          </a:r>
        </a:p>
      </dsp:txBody>
      <dsp:txXfrm>
        <a:off x="7626196" y="2208156"/>
        <a:ext cx="1622460" cy="648984"/>
      </dsp:txXfrm>
    </dsp:sp>
    <dsp:sp modelId="{DD29505D-8C05-44E2-8B93-75FAD30B4DE9}">
      <dsp:nvSpPr>
        <dsp:cNvPr id="0" name=""/>
        <dsp:cNvSpPr/>
      </dsp:nvSpPr>
      <dsp:spPr>
        <a:xfrm>
          <a:off x="9848968" y="910187"/>
          <a:ext cx="989701" cy="989701"/>
        </a:xfrm>
        <a:prstGeom prst="ellipse">
          <a:avLst/>
        </a:prstGeom>
        <a:solidFill>
          <a:srgbClr val="659BD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500D01-DED0-4BF2-8237-CDF65EBBC3DE}">
      <dsp:nvSpPr>
        <dsp:cNvPr id="0" name=""/>
        <dsp:cNvSpPr/>
      </dsp:nvSpPr>
      <dsp:spPr>
        <a:xfrm>
          <a:off x="10059888" y="1121107"/>
          <a:ext cx="567861" cy="56786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DEC26-1103-4681-8B0E-0103EF3198FE}">
      <dsp:nvSpPr>
        <dsp:cNvPr id="0" name=""/>
        <dsp:cNvSpPr/>
      </dsp:nvSpPr>
      <dsp:spPr>
        <a:xfrm>
          <a:off x="9532588" y="2208156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Conclusions and future development </a:t>
          </a:r>
        </a:p>
      </dsp:txBody>
      <dsp:txXfrm>
        <a:off x="9532588" y="2208156"/>
        <a:ext cx="1622460" cy="6489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BBD37-CBA1-C743-B5B2-7F4679D182F2}">
      <dsp:nvSpPr>
        <dsp:cNvPr id="0" name=""/>
        <dsp:cNvSpPr/>
      </dsp:nvSpPr>
      <dsp:spPr>
        <a:xfrm>
          <a:off x="2638" y="1005034"/>
          <a:ext cx="2347906" cy="939162"/>
        </a:xfrm>
        <a:prstGeom prst="chevron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 C Parsing and AST Generation</a:t>
          </a:r>
        </a:p>
      </dsp:txBody>
      <dsp:txXfrm>
        <a:off x="472219" y="1005034"/>
        <a:ext cx="1408744" cy="939162"/>
      </dsp:txXfrm>
    </dsp:sp>
    <dsp:sp modelId="{42199EC5-704F-2E48-B300-7B9BF3B50118}">
      <dsp:nvSpPr>
        <dsp:cNvPr id="0" name=""/>
        <dsp:cNvSpPr/>
      </dsp:nvSpPr>
      <dsp:spPr>
        <a:xfrm>
          <a:off x="2115753" y="1005034"/>
          <a:ext cx="2347906" cy="939162"/>
        </a:xfrm>
        <a:prstGeom prst="chevron">
          <a:avLst/>
        </a:prstGeom>
        <a:solidFill>
          <a:schemeClr val="accent2">
            <a:shade val="50000"/>
            <a:hueOff val="131215"/>
            <a:satOff val="3120"/>
            <a:lumOff val="170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AST Normalization to </a:t>
          </a:r>
          <a:r>
            <a:rPr lang="en-US" sz="1500" kern="1200" err="1"/>
            <a:t>Dataclasses</a:t>
          </a:r>
          <a:endParaRPr lang="en-US" sz="1500" kern="1200"/>
        </a:p>
      </dsp:txBody>
      <dsp:txXfrm>
        <a:off x="2585334" y="1005034"/>
        <a:ext cx="1408744" cy="939162"/>
      </dsp:txXfrm>
    </dsp:sp>
    <dsp:sp modelId="{A88DC44B-0F05-0A42-B736-C180CF356385}">
      <dsp:nvSpPr>
        <dsp:cNvPr id="0" name=""/>
        <dsp:cNvSpPr/>
      </dsp:nvSpPr>
      <dsp:spPr>
        <a:xfrm>
          <a:off x="4228869" y="1005034"/>
          <a:ext cx="2347906" cy="939162"/>
        </a:xfrm>
        <a:prstGeom prst="chevron">
          <a:avLst/>
        </a:prstGeom>
        <a:solidFill>
          <a:schemeClr val="accent2">
            <a:shade val="50000"/>
            <a:hueOff val="262430"/>
            <a:satOff val="6240"/>
            <a:lumOff val="340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Classical IR: SSA-Based Representation</a:t>
          </a:r>
        </a:p>
      </dsp:txBody>
      <dsp:txXfrm>
        <a:off x="4698450" y="1005034"/>
        <a:ext cx="1408744" cy="939162"/>
      </dsp:txXfrm>
    </dsp:sp>
    <dsp:sp modelId="{59A78C75-A592-0040-98CD-BFF658DAC7EF}">
      <dsp:nvSpPr>
        <dsp:cNvPr id="0" name=""/>
        <dsp:cNvSpPr/>
      </dsp:nvSpPr>
      <dsp:spPr>
        <a:xfrm>
          <a:off x="6341985" y="1005034"/>
          <a:ext cx="2347906" cy="939162"/>
        </a:xfrm>
        <a:prstGeom prst="chevron">
          <a:avLst/>
        </a:prstGeom>
        <a:solidFill>
          <a:schemeClr val="accent2">
            <a:shade val="50000"/>
            <a:hueOff val="262430"/>
            <a:satOff val="6240"/>
            <a:lumOff val="340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Quantum IR: Semantics and Constraint Compliance</a:t>
          </a:r>
        </a:p>
      </dsp:txBody>
      <dsp:txXfrm>
        <a:off x="6811566" y="1005034"/>
        <a:ext cx="1408744" cy="939162"/>
      </dsp:txXfrm>
    </dsp:sp>
    <dsp:sp modelId="{AE565D43-5969-924D-AFB0-C8B3A51D8B36}">
      <dsp:nvSpPr>
        <dsp:cNvPr id="0" name=""/>
        <dsp:cNvSpPr/>
      </dsp:nvSpPr>
      <dsp:spPr>
        <a:xfrm>
          <a:off x="8455101" y="1005034"/>
          <a:ext cx="2347906" cy="939162"/>
        </a:xfrm>
        <a:prstGeom prst="chevron">
          <a:avLst/>
        </a:prstGeom>
        <a:solidFill>
          <a:schemeClr val="accent2">
            <a:shade val="50000"/>
            <a:hueOff val="131215"/>
            <a:satOff val="3120"/>
            <a:lumOff val="170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Backend Lowering: QASM Generation</a:t>
          </a:r>
        </a:p>
      </dsp:txBody>
      <dsp:txXfrm>
        <a:off x="8924682" y="1005034"/>
        <a:ext cx="1408744" cy="9391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99EC5-704F-2E48-B300-7B9BF3B50118}">
      <dsp:nvSpPr>
        <dsp:cNvPr id="0" name=""/>
        <dsp:cNvSpPr/>
      </dsp:nvSpPr>
      <dsp:spPr>
        <a:xfrm>
          <a:off x="3165" y="0"/>
          <a:ext cx="3856898" cy="849872"/>
        </a:xfrm>
        <a:prstGeom prst="chevron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AST Normalization to </a:t>
          </a:r>
          <a:r>
            <a:rPr lang="en-US" sz="1900" kern="1200" err="1"/>
            <a:t>Dataclasses</a:t>
          </a:r>
          <a:endParaRPr lang="en-US" sz="1900" kern="1200"/>
        </a:p>
      </dsp:txBody>
      <dsp:txXfrm>
        <a:off x="428101" y="0"/>
        <a:ext cx="3007026" cy="849872"/>
      </dsp:txXfrm>
    </dsp:sp>
    <dsp:sp modelId="{A88DC44B-0F05-0A42-B736-C180CF356385}">
      <dsp:nvSpPr>
        <dsp:cNvPr id="0" name=""/>
        <dsp:cNvSpPr/>
      </dsp:nvSpPr>
      <dsp:spPr>
        <a:xfrm>
          <a:off x="3474373" y="0"/>
          <a:ext cx="3856898" cy="849872"/>
        </a:xfrm>
        <a:prstGeom prst="chevron">
          <a:avLst/>
        </a:prstGeom>
        <a:solidFill>
          <a:schemeClr val="accent2">
            <a:shade val="50000"/>
            <a:hueOff val="218692"/>
            <a:satOff val="5200"/>
            <a:lumOff val="283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Classical IR: SSA-Based Representation</a:t>
          </a:r>
        </a:p>
      </dsp:txBody>
      <dsp:txXfrm>
        <a:off x="3899309" y="0"/>
        <a:ext cx="3007026" cy="849872"/>
      </dsp:txXfrm>
    </dsp:sp>
    <dsp:sp modelId="{59A78C75-A592-0040-98CD-BFF658DAC7EF}">
      <dsp:nvSpPr>
        <dsp:cNvPr id="0" name=""/>
        <dsp:cNvSpPr/>
      </dsp:nvSpPr>
      <dsp:spPr>
        <a:xfrm>
          <a:off x="6945582" y="0"/>
          <a:ext cx="3856898" cy="849872"/>
        </a:xfrm>
        <a:prstGeom prst="chevron">
          <a:avLst/>
        </a:prstGeom>
        <a:solidFill>
          <a:schemeClr val="accent2">
            <a:shade val="50000"/>
            <a:hueOff val="218692"/>
            <a:satOff val="5200"/>
            <a:lumOff val="283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Quantum IR: Semantics and Constraint Compliance</a:t>
          </a:r>
        </a:p>
      </dsp:txBody>
      <dsp:txXfrm>
        <a:off x="7370518" y="0"/>
        <a:ext cx="3007026" cy="8498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F5D595-1F02-495B-9558-D76620535CF3}">
      <dsp:nvSpPr>
        <dsp:cNvPr id="0" name=""/>
        <dsp:cNvSpPr/>
      </dsp:nvSpPr>
      <dsp:spPr>
        <a:xfrm rot="5400000">
          <a:off x="557824" y="214006"/>
          <a:ext cx="843194" cy="843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EF0DFC-AC9C-4E60-9BEE-58F30A464E21}">
      <dsp:nvSpPr>
        <dsp:cNvPr id="0" name=""/>
        <dsp:cNvSpPr/>
      </dsp:nvSpPr>
      <dsp:spPr>
        <a:xfrm>
          <a:off x="42539" y="1384376"/>
          <a:ext cx="1873766" cy="1010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baseline="0"/>
            <a:t>Number of Qubits:</a:t>
          </a:r>
          <a:r>
            <a:rPr lang="it-IT" sz="1100" b="0" i="0" kern="1200" baseline="0"/>
            <a:t> Total number of logical qubits used in the final circuit.</a:t>
          </a:r>
          <a:endParaRPr lang="en-US" sz="1100" kern="1200"/>
        </a:p>
      </dsp:txBody>
      <dsp:txXfrm>
        <a:off x="42539" y="1384376"/>
        <a:ext cx="1873766" cy="1010302"/>
      </dsp:txXfrm>
    </dsp:sp>
    <dsp:sp modelId="{9C412D6F-A7EC-490A-A9C0-09FB297CB857}">
      <dsp:nvSpPr>
        <dsp:cNvPr id="0" name=""/>
        <dsp:cNvSpPr/>
      </dsp:nvSpPr>
      <dsp:spPr>
        <a:xfrm rot="5400000">
          <a:off x="2759500" y="214006"/>
          <a:ext cx="843194" cy="843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40F4B-799B-4EB7-AD6C-0CB9A3A586A3}">
      <dsp:nvSpPr>
        <dsp:cNvPr id="0" name=""/>
        <dsp:cNvSpPr/>
      </dsp:nvSpPr>
      <dsp:spPr>
        <a:xfrm>
          <a:off x="2244214" y="1384376"/>
          <a:ext cx="1873766" cy="1010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baseline="0"/>
            <a:t>Total Gate Count:</a:t>
          </a:r>
          <a:r>
            <a:rPr lang="it-IT" sz="1100" b="0" i="0" kern="1200" baseline="0"/>
            <a:t> Overall number of quantum gates in the synthesized circuit.</a:t>
          </a:r>
          <a:endParaRPr lang="en-US" sz="1100" kern="1200"/>
        </a:p>
      </dsp:txBody>
      <dsp:txXfrm>
        <a:off x="2244214" y="1384376"/>
        <a:ext cx="1873766" cy="1010302"/>
      </dsp:txXfrm>
    </dsp:sp>
    <dsp:sp modelId="{E21CF43D-4B0C-4DEE-B247-308EF04CDF20}">
      <dsp:nvSpPr>
        <dsp:cNvPr id="0" name=""/>
        <dsp:cNvSpPr/>
      </dsp:nvSpPr>
      <dsp:spPr>
        <a:xfrm>
          <a:off x="557824" y="2863120"/>
          <a:ext cx="843194" cy="843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3A600-4E70-4522-851E-99F580056A96}">
      <dsp:nvSpPr>
        <dsp:cNvPr id="0" name=""/>
        <dsp:cNvSpPr/>
      </dsp:nvSpPr>
      <dsp:spPr>
        <a:xfrm>
          <a:off x="42539" y="4033490"/>
          <a:ext cx="1873766" cy="1010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baseline="0"/>
            <a:t>CX Gates:</a:t>
          </a:r>
          <a:r>
            <a:rPr lang="it-IT" sz="1100" b="0" i="0" kern="1200" baseline="0"/>
            <a:t> Number of controlled-NOT (CNOT) gates, which are crucial indicators of circuit depth and error sensitivity on real hardware.</a:t>
          </a:r>
          <a:endParaRPr lang="en-US" sz="1100" kern="1200"/>
        </a:p>
      </dsp:txBody>
      <dsp:txXfrm>
        <a:off x="42539" y="4033490"/>
        <a:ext cx="1873766" cy="1010302"/>
      </dsp:txXfrm>
    </dsp:sp>
    <dsp:sp modelId="{E7A9AB38-CF02-4E10-A2FF-548702376157}">
      <dsp:nvSpPr>
        <dsp:cNvPr id="0" name=""/>
        <dsp:cNvSpPr/>
      </dsp:nvSpPr>
      <dsp:spPr>
        <a:xfrm>
          <a:off x="2759500" y="2863120"/>
          <a:ext cx="843194" cy="843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BDD5C-65D1-4B7A-BD74-B14347ADD5F9}">
      <dsp:nvSpPr>
        <dsp:cNvPr id="0" name=""/>
        <dsp:cNvSpPr/>
      </dsp:nvSpPr>
      <dsp:spPr>
        <a:xfrm>
          <a:off x="2244214" y="4033490"/>
          <a:ext cx="1873766" cy="1010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baseline="0"/>
            <a:t>T Gates:</a:t>
          </a:r>
          <a:r>
            <a:rPr lang="it-IT" sz="1100" b="0" i="0" kern="1200" baseline="0"/>
            <a:t> Number of T gates, representing the non-Clifford contribution to the overall complexity and a key metric in fault-tolerant quantum computing.</a:t>
          </a:r>
          <a:endParaRPr lang="en-US" sz="1100" kern="1200"/>
        </a:p>
      </dsp:txBody>
      <dsp:txXfrm>
        <a:off x="2244214" y="4033490"/>
        <a:ext cx="1873766" cy="10103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A704D-2D6D-4965-B2A7-918F29EBDE73}">
      <dsp:nvSpPr>
        <dsp:cNvPr id="0" name=""/>
        <dsp:cNvSpPr/>
      </dsp:nvSpPr>
      <dsp:spPr>
        <a:xfrm>
          <a:off x="841187" y="844205"/>
          <a:ext cx="902179" cy="9021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078ED-8B37-4153-8E84-2B8BC3CEEA1D}">
      <dsp:nvSpPr>
        <dsp:cNvPr id="0" name=""/>
        <dsp:cNvSpPr/>
      </dsp:nvSpPr>
      <dsp:spPr>
        <a:xfrm>
          <a:off x="3448" y="1868020"/>
          <a:ext cx="2577656" cy="434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Bidirectional and Flexible Workflows</a:t>
          </a:r>
        </a:p>
      </dsp:txBody>
      <dsp:txXfrm>
        <a:off x="3448" y="1868020"/>
        <a:ext cx="2577656" cy="434979"/>
      </dsp:txXfrm>
    </dsp:sp>
    <dsp:sp modelId="{33FC062C-0528-4F06-8E84-B85BAA17B2DD}">
      <dsp:nvSpPr>
        <dsp:cNvPr id="0" name=""/>
        <dsp:cNvSpPr/>
      </dsp:nvSpPr>
      <dsp:spPr>
        <a:xfrm>
          <a:off x="3448" y="2359574"/>
          <a:ext cx="2577656" cy="1313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Support for </a:t>
          </a:r>
          <a:r>
            <a:rPr lang="en-US" sz="1100" b="1" kern="1200"/>
            <a:t>lifting</a:t>
          </a:r>
          <a:r>
            <a:rPr lang="en-US" sz="1100" kern="1200"/>
            <a:t> QASM to quantum IR and reverse mapping to classical control logic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Enable </a:t>
          </a:r>
          <a:r>
            <a:rPr lang="en-US" sz="1100" b="1" kern="1200"/>
            <a:t>round-trip transformations</a:t>
          </a:r>
          <a:r>
            <a:rPr lang="en-US" sz="1100" kern="1200"/>
            <a:t> for debugging and IR-level optimization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Integrate alternative frontends (e.g., Verilog) for shared IR reuse</a:t>
          </a:r>
        </a:p>
      </dsp:txBody>
      <dsp:txXfrm>
        <a:off x="3448" y="2359574"/>
        <a:ext cx="2577656" cy="1313355"/>
      </dsp:txXfrm>
    </dsp:sp>
    <dsp:sp modelId="{C53EE6D0-C27B-403E-A4C7-D9917776A15D}">
      <dsp:nvSpPr>
        <dsp:cNvPr id="0" name=""/>
        <dsp:cNvSpPr/>
      </dsp:nvSpPr>
      <dsp:spPr>
        <a:xfrm>
          <a:off x="3869933" y="844205"/>
          <a:ext cx="902179" cy="9021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9845F-4F02-4776-B138-2344494A9F87}">
      <dsp:nvSpPr>
        <dsp:cNvPr id="0" name=""/>
        <dsp:cNvSpPr/>
      </dsp:nvSpPr>
      <dsp:spPr>
        <a:xfrm>
          <a:off x="3032194" y="1868020"/>
          <a:ext cx="2577656" cy="434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Dialect Interoperability</a:t>
          </a:r>
        </a:p>
      </dsp:txBody>
      <dsp:txXfrm>
        <a:off x="3032194" y="1868020"/>
        <a:ext cx="2577656" cy="434979"/>
      </dsp:txXfrm>
    </dsp:sp>
    <dsp:sp modelId="{6E517181-15C0-4953-8AC4-7AAF649791DC}">
      <dsp:nvSpPr>
        <dsp:cNvPr id="0" name=""/>
        <dsp:cNvSpPr/>
      </dsp:nvSpPr>
      <dsp:spPr>
        <a:xfrm>
          <a:off x="3032194" y="2359574"/>
          <a:ext cx="2577656" cy="1313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Align with existing IRs like </a:t>
          </a:r>
          <a:r>
            <a:rPr lang="en-US" sz="1100" b="1" kern="1200"/>
            <a:t>QIRO</a:t>
          </a:r>
          <a:r>
            <a:rPr lang="en-US" sz="1100" kern="1200"/>
            <a:t>, </a:t>
          </a:r>
          <a:r>
            <a:rPr lang="en-US" sz="1100" b="1" kern="1200" err="1"/>
            <a:t>xDSL</a:t>
          </a:r>
          <a:r>
            <a:rPr lang="en-US" sz="1100" kern="1200"/>
            <a:t>, and </a:t>
          </a:r>
          <a:r>
            <a:rPr lang="en-US" sz="1100" b="1" kern="1200"/>
            <a:t>MLIR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Define translation layers between dialects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Contribute toward </a:t>
          </a:r>
          <a:r>
            <a:rPr lang="en-US" sz="1100" b="1" kern="1200"/>
            <a:t>shared community standards</a:t>
          </a:r>
          <a:r>
            <a:rPr lang="en-US" sz="1100" kern="1200"/>
            <a:t> for quantum IRs</a:t>
          </a:r>
        </a:p>
      </dsp:txBody>
      <dsp:txXfrm>
        <a:off x="3032194" y="2359574"/>
        <a:ext cx="2577656" cy="1313355"/>
      </dsp:txXfrm>
    </dsp:sp>
    <dsp:sp modelId="{3359379F-5064-4366-AEB5-A0FE8DD6AC62}">
      <dsp:nvSpPr>
        <dsp:cNvPr id="0" name=""/>
        <dsp:cNvSpPr/>
      </dsp:nvSpPr>
      <dsp:spPr>
        <a:xfrm>
          <a:off x="6898679" y="844205"/>
          <a:ext cx="902179" cy="9021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4993F-F9E7-4876-99D1-EC99353DB3D0}">
      <dsp:nvSpPr>
        <dsp:cNvPr id="0" name=""/>
        <dsp:cNvSpPr/>
      </dsp:nvSpPr>
      <dsp:spPr>
        <a:xfrm>
          <a:off x="6060940" y="1868020"/>
          <a:ext cx="2577656" cy="434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Target-Aware Gate Synthesis</a:t>
          </a:r>
        </a:p>
      </dsp:txBody>
      <dsp:txXfrm>
        <a:off x="6060940" y="1868020"/>
        <a:ext cx="2577656" cy="434979"/>
      </dsp:txXfrm>
    </dsp:sp>
    <dsp:sp modelId="{77A01C84-3587-4A1C-BEE8-D0AC95CEEA25}">
      <dsp:nvSpPr>
        <dsp:cNvPr id="0" name=""/>
        <dsp:cNvSpPr/>
      </dsp:nvSpPr>
      <dsp:spPr>
        <a:xfrm>
          <a:off x="6060940" y="2359574"/>
          <a:ext cx="2577656" cy="1313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Support configurable native gate sets per backend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Allow </a:t>
          </a:r>
          <a:r>
            <a:rPr lang="en-US" sz="1100" b="1" kern="1200"/>
            <a:t>architecture-specific lowering</a:t>
          </a:r>
          <a:r>
            <a:rPr lang="en-US" sz="1100" kern="1200"/>
            <a:t> (e.g., Toffoli, MCRz)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Enable trade-offs between </a:t>
          </a:r>
          <a:r>
            <a:rPr lang="en-US" sz="1100" b="1" kern="1200"/>
            <a:t>abstraction</a:t>
          </a:r>
          <a:r>
            <a:rPr lang="en-US" sz="1100" kern="1200"/>
            <a:t> and </a:t>
          </a:r>
          <a:r>
            <a:rPr lang="en-US" sz="1100" b="1" kern="1200"/>
            <a:t>performance</a:t>
          </a:r>
          <a:endParaRPr lang="en-US" sz="1100" kern="1200"/>
        </a:p>
      </dsp:txBody>
      <dsp:txXfrm>
        <a:off x="6060940" y="2359574"/>
        <a:ext cx="2577656" cy="1313355"/>
      </dsp:txXfrm>
    </dsp:sp>
    <dsp:sp modelId="{1E9235BA-B1D0-4C38-AA3B-34ABBB8C950C}">
      <dsp:nvSpPr>
        <dsp:cNvPr id="0" name=""/>
        <dsp:cNvSpPr/>
      </dsp:nvSpPr>
      <dsp:spPr>
        <a:xfrm>
          <a:off x="9927425" y="844205"/>
          <a:ext cx="902179" cy="9021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C1DDA-CFB6-4D8A-A779-EFBCCCA343CA}">
      <dsp:nvSpPr>
        <dsp:cNvPr id="0" name=""/>
        <dsp:cNvSpPr/>
      </dsp:nvSpPr>
      <dsp:spPr>
        <a:xfrm>
          <a:off x="9089687" y="1868020"/>
          <a:ext cx="2577656" cy="434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IR-Level Benchmarking</a:t>
          </a:r>
        </a:p>
      </dsp:txBody>
      <dsp:txXfrm>
        <a:off x="9089687" y="1868020"/>
        <a:ext cx="2577656" cy="434979"/>
      </dsp:txXfrm>
    </dsp:sp>
    <dsp:sp modelId="{BA6975CF-B654-4873-8FBB-7EEDF10F0494}">
      <dsp:nvSpPr>
        <dsp:cNvPr id="0" name=""/>
        <dsp:cNvSpPr/>
      </dsp:nvSpPr>
      <dsp:spPr>
        <a:xfrm>
          <a:off x="9089687" y="2359574"/>
          <a:ext cx="2577656" cy="1313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Compare multiple optimization stacks on: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Qubit usage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Gate count and depth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Fidelity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Facilitate reproducible experiments across toolchains</a:t>
          </a:r>
        </a:p>
      </dsp:txBody>
      <dsp:txXfrm>
        <a:off x="9089687" y="2359574"/>
        <a:ext cx="2577656" cy="13133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DED2B-D19A-E04A-A7DB-9BE426187846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2CB0-22F1-B447-A55B-09ECE5661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0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84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F93F2-FE78-EE3C-DBC5-61EB70DC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0ECFB-FE28-A0A4-D571-DCE07D801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A66BC-AB4C-FD4E-A1B4-52B47C0C4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8A911-0108-0BE9-DE0E-31E10CAE0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27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DEB9E-DAD6-580C-8164-B177D126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839DF-960E-16ED-0220-F36B51E6E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2C898-0286-5F8E-8F3E-177EF3B3E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8D3DA-E882-1886-F041-1AA39966B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84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FF817-B5DE-5869-3FCA-B2CED698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AB38A-7962-7755-384D-FBA3AC642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2A3D2-29F6-36CF-F622-13488C1A7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6D796-A0C7-2985-CD9E-2C7165637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21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38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324A-2B5C-1927-3C13-4F7903DEC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71316B2-2B10-E649-3BFF-36D8D59C1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80E6F26-C999-AC0F-7DCD-82B0C567D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23EE52-2C2E-A0CD-4212-D87A1B7AC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61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63311-449E-E0AF-46F6-3426CCCDB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5816B1A-3EAF-B9D5-DAAD-BAA613574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B23806A-1EBE-CDAD-4323-BA245F2B3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17E30F-A707-C419-689C-636E1C9AF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66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45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6BF7-EBD7-E1FC-B65A-FACBFC8E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7A560B8-D810-8CB2-2286-F6CC6B5AF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F605E61-3029-1D98-7C0F-D49F6927C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6055448-0B94-6A1F-AE55-D02A307D8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82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0A86-9298-4ED6-8827-B1D9E043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26E46BD-C37F-ADD7-75CA-D425E56F2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C9D5A9-67C0-99F2-7304-EF5A1C851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583C709-8025-E743-C41D-186DA62DB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51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2CB0-22F1-B447-A55B-09ECE5661A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07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87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7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88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5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91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75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0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9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6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9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0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1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1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diagramLayout" Target="../diagrams/layout5.xml"/><Relationship Id="rId7" Type="http://schemas.openxmlformats.org/officeDocument/2006/relationships/image" Target="../media/image1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215A9-633D-7FA9-C072-BC0F78393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7" y="978408"/>
            <a:ext cx="5808155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b="1" cap="all"/>
              <a:t>HIGH-LEVEL SYNTHESIS OF QUANTUM CIRCUITS FROM C</a:t>
            </a:r>
            <a:br>
              <a:rPr lang="en-US" sz="2600" cap="all"/>
            </a:br>
            <a:r>
              <a:rPr lang="en-US" sz="2600" b="1" cap="all"/>
              <a:t>VIA MLIR AND QUANTUM-AWARE INTERMEDIATE</a:t>
            </a:r>
            <a:br>
              <a:rPr lang="en-US" sz="2600" cap="all"/>
            </a:br>
            <a:r>
              <a:rPr lang="en-US" sz="2600" b="1" cap="all"/>
              <a:t>REPRESENTATIONS</a:t>
            </a:r>
            <a:br>
              <a:rPr lang="en-US" sz="2600" cap="all"/>
            </a:br>
            <a:endParaRPr lang="en-US" sz="2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DAAC1-622E-4EA7-28C5-C37CD0E9D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9" y="3428905"/>
            <a:ext cx="3397649" cy="1328833"/>
          </a:xfrm>
        </p:spPr>
        <p:txBody>
          <a:bodyPr anchor="t">
            <a:normAutofit/>
          </a:bodyPr>
          <a:lstStyle/>
          <a:p>
            <a:r>
              <a:rPr lang="en-US"/>
              <a:t>Code Transformation and Optimization</a:t>
            </a:r>
          </a:p>
          <a:p>
            <a:r>
              <a:rPr lang="en-US"/>
              <a:t>AA 2024/2025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3E8D7-25FA-8005-0782-BFF9B20ED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614" y="1165459"/>
            <a:ext cx="3850203" cy="4734972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BC14BE-5FD7-479A-4C48-915599EF3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210992"/>
              </p:ext>
            </p:extLst>
          </p:nvPr>
        </p:nvGraphicFramePr>
        <p:xfrm>
          <a:off x="449910" y="5395739"/>
          <a:ext cx="5244214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9709">
                  <a:extLst>
                    <a:ext uri="{9D8B030D-6E8A-4147-A177-3AD203B41FA5}">
                      <a16:colId xmlns:a16="http://schemas.microsoft.com/office/drawing/2014/main" val="2787160517"/>
                    </a:ext>
                  </a:extLst>
                </a:gridCol>
                <a:gridCol w="1834505">
                  <a:extLst>
                    <a:ext uri="{9D8B030D-6E8A-4147-A177-3AD203B41FA5}">
                      <a16:colId xmlns:a16="http://schemas.microsoft.com/office/drawing/2014/main" val="2694814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i="1"/>
                        <a:t>Leonardo Ignazio Pagliochini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/>
                        <a:t>10707169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01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/>
                        <a:t>Francesco </a:t>
                      </a:r>
                      <a:r>
                        <a:rPr lang="en-US" i="1" err="1"/>
                        <a:t>Rosnati</a:t>
                      </a:r>
                      <a:endParaRPr lang="en-US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/>
                        <a:t>10562427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352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03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6515-2782-D4D2-30E5-F946BAA5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4C4E6BC-A63E-4086-3767-B4E078A951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2020664"/>
              </p:ext>
            </p:extLst>
          </p:nvPr>
        </p:nvGraphicFramePr>
        <p:xfrm>
          <a:off x="521208" y="234492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797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8DDAD-D34E-9A16-D7C2-A1F24192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739210"/>
            <a:ext cx="60502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and goals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E13D2-7A8A-13EF-AF96-8A15161AF344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 descr="Bullseye">
            <a:extLst>
              <a:ext uri="{FF2B5EF4-FFF2-40B4-BE49-F238E27FC236}">
                <a16:creationId xmlns:a16="http://schemas.microsoft.com/office/drawing/2014/main" id="{B9C3CE52-5794-38B3-AEB9-7F5B25DEDE69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617148-FECA-6005-003D-493AB191E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1164337"/>
            <a:ext cx="5010912" cy="2050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This work introduces a </a:t>
            </a:r>
            <a:r>
              <a:rPr lang="en-US" b="1"/>
              <a:t>compilation pipeline </a:t>
            </a:r>
            <a:r>
              <a:rPr lang="en-US"/>
              <a:t>that synthesizes fully reversible quantum circuits directly from classical C programs.</a:t>
            </a:r>
          </a:p>
          <a:p>
            <a:pPr marL="0" indent="0">
              <a:buNone/>
            </a:pPr>
            <a:r>
              <a:rPr lang="en-US"/>
              <a:t>One of the main challenges is to translate the C logic to match the </a:t>
            </a:r>
            <a:endParaRPr lang="en-US" b="1">
              <a:solidFill>
                <a:srgbClr val="1B476D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37DABBD-5F93-B190-2CEA-E5BE1900781D}"/>
              </a:ext>
            </a:extLst>
          </p:cNvPr>
          <p:cNvSpPr/>
          <p:nvPr/>
        </p:nvSpPr>
        <p:spPr>
          <a:xfrm>
            <a:off x="517869" y="5063157"/>
            <a:ext cx="1719956" cy="1029738"/>
          </a:xfrm>
          <a:prstGeom prst="roundRect">
            <a:avLst>
              <a:gd name="adj" fmla="val 10000"/>
            </a:avLst>
          </a:prstGeom>
          <a:solidFill>
            <a:srgbClr val="03457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835AD7-0D91-826A-D684-272EC0366AB7}"/>
              </a:ext>
            </a:extLst>
          </p:cNvPr>
          <p:cNvGrpSpPr/>
          <p:nvPr/>
        </p:nvGrpSpPr>
        <p:grpSpPr>
          <a:xfrm>
            <a:off x="724338" y="5259302"/>
            <a:ext cx="1719956" cy="1029738"/>
            <a:chOff x="210282" y="636753"/>
            <a:chExt cx="1858220" cy="1179970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659AC37A-3C1A-599D-E42D-138DC8B2169F}"/>
                </a:ext>
              </a:extLst>
            </p:cNvPr>
            <p:cNvSpPr/>
            <p:nvPr/>
          </p:nvSpPr>
          <p:spPr>
            <a:xfrm>
              <a:off x="210282" y="636753"/>
              <a:ext cx="1858220" cy="1179970"/>
            </a:xfrm>
            <a:prstGeom prst="roundRect">
              <a:avLst>
                <a:gd name="adj" fmla="val 10000"/>
              </a:avLst>
            </a:prstGeom>
            <a:ln>
              <a:solidFill>
                <a:srgbClr val="03457C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ounded Rectangle 5">
              <a:extLst>
                <a:ext uri="{FF2B5EF4-FFF2-40B4-BE49-F238E27FC236}">
                  <a16:creationId xmlns:a16="http://schemas.microsoft.com/office/drawing/2014/main" id="{7199F2AC-CBF8-6E16-F153-D2878B3B1D17}"/>
                </a:ext>
              </a:extLst>
            </p:cNvPr>
            <p:cNvSpPr txBox="1"/>
            <p:nvPr/>
          </p:nvSpPr>
          <p:spPr>
            <a:xfrm>
              <a:off x="244842" y="671313"/>
              <a:ext cx="1789100" cy="11108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No Cloning </a:t>
              </a:r>
            </a:p>
          </p:txBody>
        </p:sp>
      </p:grp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367169A-20F8-EEDD-6C03-E5EED2D873FB}"/>
              </a:ext>
            </a:extLst>
          </p:cNvPr>
          <p:cNvSpPr/>
          <p:nvPr/>
        </p:nvSpPr>
        <p:spPr>
          <a:xfrm>
            <a:off x="2852460" y="5069432"/>
            <a:ext cx="1719956" cy="1029738"/>
          </a:xfrm>
          <a:prstGeom prst="roundRect">
            <a:avLst>
              <a:gd name="adj" fmla="val 10000"/>
            </a:avLst>
          </a:prstGeom>
          <a:solidFill>
            <a:srgbClr val="03457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E6C3B7B-6FEC-675D-3C32-A5C5B0A653F4}"/>
              </a:ext>
            </a:extLst>
          </p:cNvPr>
          <p:cNvGrpSpPr/>
          <p:nvPr/>
        </p:nvGrpSpPr>
        <p:grpSpPr>
          <a:xfrm>
            <a:off x="3058929" y="5265577"/>
            <a:ext cx="1719956" cy="1029738"/>
            <a:chOff x="2481440" y="636753"/>
            <a:chExt cx="1858220" cy="1179970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58FF757C-D64B-19F2-0224-68554BC61AE3}"/>
                </a:ext>
              </a:extLst>
            </p:cNvPr>
            <p:cNvSpPr/>
            <p:nvPr/>
          </p:nvSpPr>
          <p:spPr>
            <a:xfrm>
              <a:off x="2481440" y="636753"/>
              <a:ext cx="1858220" cy="1179970"/>
            </a:xfrm>
            <a:prstGeom prst="roundRect">
              <a:avLst>
                <a:gd name="adj" fmla="val 10000"/>
              </a:avLst>
            </a:prstGeom>
            <a:ln>
              <a:solidFill>
                <a:srgbClr val="03457C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ounded Rectangle 5">
              <a:extLst>
                <a:ext uri="{FF2B5EF4-FFF2-40B4-BE49-F238E27FC236}">
                  <a16:creationId xmlns:a16="http://schemas.microsoft.com/office/drawing/2014/main" id="{F223C37C-8A70-4E53-3F15-E5B43C0470D9}"/>
                </a:ext>
              </a:extLst>
            </p:cNvPr>
            <p:cNvSpPr txBox="1"/>
            <p:nvPr/>
          </p:nvSpPr>
          <p:spPr>
            <a:xfrm>
              <a:off x="2516000" y="671313"/>
              <a:ext cx="1789100" cy="11108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No Deleting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EC58502-7C18-AC85-FC23-1EFF1ACC66E2}"/>
              </a:ext>
            </a:extLst>
          </p:cNvPr>
          <p:cNvSpPr/>
          <p:nvPr/>
        </p:nvSpPr>
        <p:spPr>
          <a:xfrm>
            <a:off x="5216096" y="5063157"/>
            <a:ext cx="1719956" cy="1029738"/>
          </a:xfrm>
          <a:prstGeom prst="roundRect">
            <a:avLst>
              <a:gd name="adj" fmla="val 10000"/>
            </a:avLst>
          </a:prstGeom>
          <a:solidFill>
            <a:srgbClr val="03457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7FDB6D8-F7FA-70DA-6ADD-A0ACDB0D1230}"/>
              </a:ext>
            </a:extLst>
          </p:cNvPr>
          <p:cNvGrpSpPr/>
          <p:nvPr/>
        </p:nvGrpSpPr>
        <p:grpSpPr>
          <a:xfrm>
            <a:off x="5422565" y="5259302"/>
            <a:ext cx="1719956" cy="1029738"/>
            <a:chOff x="4752599" y="636753"/>
            <a:chExt cx="1858220" cy="1179970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AF7058-9EEB-49A1-A142-67EEC84EE91B}"/>
                </a:ext>
              </a:extLst>
            </p:cNvPr>
            <p:cNvSpPr/>
            <p:nvPr/>
          </p:nvSpPr>
          <p:spPr>
            <a:xfrm>
              <a:off x="4752599" y="636753"/>
              <a:ext cx="1858220" cy="1179970"/>
            </a:xfrm>
            <a:prstGeom prst="roundRect">
              <a:avLst>
                <a:gd name="adj" fmla="val 10000"/>
              </a:avLst>
            </a:prstGeom>
            <a:ln>
              <a:solidFill>
                <a:srgbClr val="03457C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ounded Rectangle 5">
              <a:extLst>
                <a:ext uri="{FF2B5EF4-FFF2-40B4-BE49-F238E27FC236}">
                  <a16:creationId xmlns:a16="http://schemas.microsoft.com/office/drawing/2014/main" id="{885713F7-4102-3334-5E2C-E05F4EFD9CF3}"/>
                </a:ext>
              </a:extLst>
            </p:cNvPr>
            <p:cNvSpPr txBox="1"/>
            <p:nvPr/>
          </p:nvSpPr>
          <p:spPr>
            <a:xfrm>
              <a:off x="4787159" y="671313"/>
              <a:ext cx="1789100" cy="11108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No</a:t>
              </a:r>
              <a:r>
                <a:rPr lang="en-US" kern="1200" baseline="0"/>
                <a:t> Signaling</a:t>
              </a:r>
              <a:endParaRPr lang="en-US" kern="1200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1406BBB-A7A1-7932-BF21-9261A1C61E52}"/>
              </a:ext>
            </a:extLst>
          </p:cNvPr>
          <p:cNvSpPr/>
          <p:nvPr/>
        </p:nvSpPr>
        <p:spPr>
          <a:xfrm>
            <a:off x="7536110" y="5063157"/>
            <a:ext cx="1719956" cy="1029738"/>
          </a:xfrm>
          <a:prstGeom prst="roundRect">
            <a:avLst>
              <a:gd name="adj" fmla="val 10000"/>
            </a:avLst>
          </a:prstGeom>
          <a:solidFill>
            <a:srgbClr val="03457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10546E0-17C8-C4EB-7E42-77D8B79D0BB4}"/>
              </a:ext>
            </a:extLst>
          </p:cNvPr>
          <p:cNvGrpSpPr/>
          <p:nvPr/>
        </p:nvGrpSpPr>
        <p:grpSpPr>
          <a:xfrm>
            <a:off x="7742579" y="5259302"/>
            <a:ext cx="1719956" cy="1029738"/>
            <a:chOff x="7023757" y="636753"/>
            <a:chExt cx="1858220" cy="1179970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D5896963-3DB9-6EE8-781E-BCF5983D525A}"/>
                </a:ext>
              </a:extLst>
            </p:cNvPr>
            <p:cNvSpPr/>
            <p:nvPr/>
          </p:nvSpPr>
          <p:spPr>
            <a:xfrm>
              <a:off x="7023757" y="636753"/>
              <a:ext cx="1858220" cy="1179970"/>
            </a:xfrm>
            <a:prstGeom prst="roundRect">
              <a:avLst>
                <a:gd name="adj" fmla="val 10000"/>
              </a:avLst>
            </a:prstGeom>
            <a:ln>
              <a:solidFill>
                <a:srgbClr val="03457C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ounded Rectangle 5">
              <a:extLst>
                <a:ext uri="{FF2B5EF4-FFF2-40B4-BE49-F238E27FC236}">
                  <a16:creationId xmlns:a16="http://schemas.microsoft.com/office/drawing/2014/main" id="{41AFA2E2-54AF-0672-3093-8EADC789AAF9}"/>
                </a:ext>
              </a:extLst>
            </p:cNvPr>
            <p:cNvSpPr txBox="1"/>
            <p:nvPr/>
          </p:nvSpPr>
          <p:spPr>
            <a:xfrm>
              <a:off x="7058317" y="671313"/>
              <a:ext cx="1789100" cy="11108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Unitarity</a:t>
              </a:r>
              <a:r>
                <a:rPr lang="en-US" kern="1200" baseline="0"/>
                <a:t> and Reversibility</a:t>
              </a:r>
              <a:endParaRPr lang="en-US" kern="1200"/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962D18D-8F87-FDFC-1138-01494F9D9813}"/>
              </a:ext>
            </a:extLst>
          </p:cNvPr>
          <p:cNvSpPr/>
          <p:nvPr/>
        </p:nvSpPr>
        <p:spPr>
          <a:xfrm>
            <a:off x="9856124" y="5063157"/>
            <a:ext cx="1719956" cy="1029738"/>
          </a:xfrm>
          <a:prstGeom prst="roundRect">
            <a:avLst>
              <a:gd name="adj" fmla="val 10000"/>
            </a:avLst>
          </a:prstGeom>
          <a:solidFill>
            <a:srgbClr val="03457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496F1F4-3301-F029-C089-10BB873F01C4}"/>
              </a:ext>
            </a:extLst>
          </p:cNvPr>
          <p:cNvGrpSpPr/>
          <p:nvPr/>
        </p:nvGrpSpPr>
        <p:grpSpPr>
          <a:xfrm>
            <a:off x="10062593" y="5259302"/>
            <a:ext cx="1719956" cy="1029738"/>
            <a:chOff x="9294916" y="636753"/>
            <a:chExt cx="1858220" cy="1179970"/>
          </a:xfrm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FBEF0F9C-9A78-CC08-A69A-CAC5EA2A3853}"/>
                </a:ext>
              </a:extLst>
            </p:cNvPr>
            <p:cNvSpPr/>
            <p:nvPr/>
          </p:nvSpPr>
          <p:spPr>
            <a:xfrm>
              <a:off x="9294916" y="636753"/>
              <a:ext cx="1858220" cy="1179970"/>
            </a:xfrm>
            <a:prstGeom prst="roundRect">
              <a:avLst>
                <a:gd name="adj" fmla="val 10000"/>
              </a:avLst>
            </a:prstGeom>
            <a:ln>
              <a:solidFill>
                <a:srgbClr val="03457C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Rounded Rectangle 5">
              <a:extLst>
                <a:ext uri="{FF2B5EF4-FFF2-40B4-BE49-F238E27FC236}">
                  <a16:creationId xmlns:a16="http://schemas.microsoft.com/office/drawing/2014/main" id="{BBE1CD7D-C1A8-60EB-BB5B-898F325297C7}"/>
                </a:ext>
              </a:extLst>
            </p:cNvPr>
            <p:cNvSpPr txBox="1"/>
            <p:nvPr/>
          </p:nvSpPr>
          <p:spPr>
            <a:xfrm>
              <a:off x="9329476" y="671313"/>
              <a:ext cx="1789100" cy="11108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Linearity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7DB2DDD-CADE-CC0F-E01A-2DF1CEA21604}"/>
              </a:ext>
            </a:extLst>
          </p:cNvPr>
          <p:cNvSpPr txBox="1"/>
          <p:nvPr/>
        </p:nvSpPr>
        <p:spPr>
          <a:xfrm>
            <a:off x="6665976" y="2831028"/>
            <a:ext cx="405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1B476D"/>
                </a:solidFill>
              </a:rPr>
              <a:t>Fundamental Quantum Constraints</a:t>
            </a:r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187B73-6D38-D5EE-5C67-AF2EC211A046}"/>
              </a:ext>
            </a:extLst>
          </p:cNvPr>
          <p:cNvSpPr txBox="1"/>
          <p:nvPr/>
        </p:nvSpPr>
        <p:spPr>
          <a:xfrm>
            <a:off x="2600960" y="675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4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33333E-6 C -0.00091 0.04329 -0.00169 0.08681 -0.03711 0.10718 C -0.07266 0.12778 -0.18099 0.1125 -0.21276 0.12315 " pathEditMode="relative" rAng="0" ptsTypes="AAA">
                                      <p:cBhvr>
                                        <p:cTn id="1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38" y="615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9" dur="750" fill="hold"/>
                                        <p:tgtEl>
                                          <p:spTgt spid="5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25" grpId="0" animBg="1"/>
      <p:bldP spid="29" grpId="0" animBg="1"/>
      <p:bldP spid="33" grpId="0" animBg="1"/>
      <p:bldP spid="37" grpId="0" animBg="1"/>
      <p:bldP spid="41" grpId="0" animBg="1"/>
      <p:bldP spid="56" grpId="0"/>
      <p:bldP spid="56" grpId="1"/>
      <p:bldP spid="56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CF43B-F4BD-FF8D-369C-E487B2AE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99999A9-C9F5-2D66-F399-A64BF3595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18588-6E05-1130-3627-D3A4F88D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739210"/>
            <a:ext cx="60502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and goals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148C2B-5353-9197-047E-41F9E088C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F6F4D8-4843-1FAF-F83E-1E8A67B985EA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 descr="Bullseye">
            <a:extLst>
              <a:ext uri="{FF2B5EF4-FFF2-40B4-BE49-F238E27FC236}">
                <a16:creationId xmlns:a16="http://schemas.microsoft.com/office/drawing/2014/main" id="{EA5BEA36-1870-CC2F-2E7D-B2F19768404C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1378B47-CF9A-6342-D991-038FA0A21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1164337"/>
            <a:ext cx="5010912" cy="2050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1B476D"/>
                </a:solidFill>
              </a:rPr>
              <a:t>Challenges of NISQ programming</a:t>
            </a:r>
          </a:p>
          <a:p>
            <a:pPr marL="0" indent="0">
              <a:buNone/>
            </a:pPr>
            <a:r>
              <a:rPr lang="en-US"/>
              <a:t>Together with the quantum constraints, the compiler should take care of the physical constraints of the available quantum architecture: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C73E1E-10EA-D81C-27F8-A5E0653823CC}"/>
              </a:ext>
            </a:extLst>
          </p:cNvPr>
          <p:cNvGrpSpPr/>
          <p:nvPr/>
        </p:nvGrpSpPr>
        <p:grpSpPr>
          <a:xfrm>
            <a:off x="3415239" y="3933743"/>
            <a:ext cx="5336055" cy="1225883"/>
            <a:chOff x="3415239" y="3933743"/>
            <a:chExt cx="5336055" cy="122588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FD088198-19FB-796F-6CA1-CC0E6B3F61BC}"/>
                </a:ext>
              </a:extLst>
            </p:cNvPr>
            <p:cNvSpPr/>
            <p:nvPr/>
          </p:nvSpPr>
          <p:spPr>
            <a:xfrm>
              <a:off x="3415239" y="3933743"/>
              <a:ext cx="1719956" cy="1029738"/>
            </a:xfrm>
            <a:prstGeom prst="roundRect">
              <a:avLst>
                <a:gd name="adj" fmla="val 10000"/>
              </a:avLst>
            </a:prstGeom>
            <a:solidFill>
              <a:srgbClr val="03457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A176AE-3889-E740-942D-3C2B211EAA42}"/>
                </a:ext>
              </a:extLst>
            </p:cNvPr>
            <p:cNvGrpSpPr/>
            <p:nvPr/>
          </p:nvGrpSpPr>
          <p:grpSpPr>
            <a:xfrm>
              <a:off x="3621708" y="4129888"/>
              <a:ext cx="1719956" cy="1029738"/>
              <a:chOff x="210282" y="636753"/>
              <a:chExt cx="1858220" cy="1179970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CF7D9F9E-3072-33E2-0D00-2163EB0DF9F5}"/>
                  </a:ext>
                </a:extLst>
              </p:cNvPr>
              <p:cNvSpPr/>
              <p:nvPr/>
            </p:nvSpPr>
            <p:spPr>
              <a:xfrm>
                <a:off x="210282" y="636753"/>
                <a:ext cx="1858220" cy="1179970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03457C"/>
                </a:solidFill>
              </a:ln>
            </p:spPr>
            <p:style>
              <a:lnRef idx="2">
                <a:scrgbClr r="0" g="0" b="0"/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Rounded Rectangle 5">
                <a:extLst>
                  <a:ext uri="{FF2B5EF4-FFF2-40B4-BE49-F238E27FC236}">
                    <a16:creationId xmlns:a16="http://schemas.microsoft.com/office/drawing/2014/main" id="{5E8C2886-C983-4CA3-68A1-22C52D0F4286}"/>
                  </a:ext>
                </a:extLst>
              </p:cNvPr>
              <p:cNvSpPr txBox="1"/>
              <p:nvPr/>
            </p:nvSpPr>
            <p:spPr>
              <a:xfrm>
                <a:off x="244842" y="671313"/>
                <a:ext cx="1789100" cy="11108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3820" tIns="83820" rIns="83820" bIns="83820" numCol="1" spcCol="1270" anchor="ctr" anchorCtr="0">
                <a:noAutofit/>
              </a:bodyPr>
              <a:lstStyle/>
              <a:p>
                <a:pPr marL="0" lvl="0" indent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/>
                  <a:t>Resource Efficiency</a:t>
                </a:r>
                <a:endParaRPr lang="en-US" kern="1200"/>
              </a:p>
            </p:txBody>
          </p:sp>
        </p:grp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3868538-407E-C443-D317-B1C8A589FDFB}"/>
                </a:ext>
              </a:extLst>
            </p:cNvPr>
            <p:cNvSpPr/>
            <p:nvPr/>
          </p:nvSpPr>
          <p:spPr>
            <a:xfrm>
              <a:off x="6824869" y="3933743"/>
              <a:ext cx="1719956" cy="1029738"/>
            </a:xfrm>
            <a:prstGeom prst="roundRect">
              <a:avLst>
                <a:gd name="adj" fmla="val 10000"/>
              </a:avLst>
            </a:prstGeom>
            <a:solidFill>
              <a:srgbClr val="03457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E013E35-F031-D10F-17D8-0F18178961CD}"/>
                </a:ext>
              </a:extLst>
            </p:cNvPr>
            <p:cNvGrpSpPr/>
            <p:nvPr/>
          </p:nvGrpSpPr>
          <p:grpSpPr>
            <a:xfrm>
              <a:off x="7031338" y="4129888"/>
              <a:ext cx="1719956" cy="1029738"/>
              <a:chOff x="2481440" y="636753"/>
              <a:chExt cx="1858220" cy="1179970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C540745-41F9-AB8E-0402-FCAC5BEBC235}"/>
                  </a:ext>
                </a:extLst>
              </p:cNvPr>
              <p:cNvSpPr/>
              <p:nvPr/>
            </p:nvSpPr>
            <p:spPr>
              <a:xfrm>
                <a:off x="2481440" y="636753"/>
                <a:ext cx="1858220" cy="1179970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03457C"/>
                </a:solidFill>
              </a:ln>
            </p:spPr>
            <p:style>
              <a:lnRef idx="2">
                <a:scrgbClr r="0" g="0" b="0"/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C68C46C0-8BFF-9E84-0C88-2A50C4F7155F}"/>
                  </a:ext>
                </a:extLst>
              </p:cNvPr>
              <p:cNvSpPr txBox="1"/>
              <p:nvPr/>
            </p:nvSpPr>
            <p:spPr>
              <a:xfrm>
                <a:off x="2516000" y="671313"/>
                <a:ext cx="1789100" cy="11108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3820" tIns="83820" rIns="83820" bIns="83820" numCol="1" spcCol="1270" anchor="ctr" anchorCtr="0">
                <a:noAutofit/>
              </a:bodyPr>
              <a:lstStyle/>
              <a:p>
                <a:pPr marL="0" lvl="0" indent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kern="1200"/>
                  <a:t>High-level synthesis and optimization </a:t>
                </a:r>
              </a:p>
            </p:txBody>
          </p:sp>
        </p:grpSp>
      </p:grpSp>
      <p:sp>
        <p:nvSpPr>
          <p:cNvPr id="17" name="Down Arrow 16">
            <a:extLst>
              <a:ext uri="{FF2B5EF4-FFF2-40B4-BE49-F238E27FC236}">
                <a16:creationId xmlns:a16="http://schemas.microsoft.com/office/drawing/2014/main" id="{2B04F475-A3BB-3B01-C7A1-C43B4953D295}"/>
              </a:ext>
            </a:extLst>
          </p:cNvPr>
          <p:cNvSpPr/>
          <p:nvPr/>
        </p:nvSpPr>
        <p:spPr>
          <a:xfrm>
            <a:off x="4256399" y="4386221"/>
            <a:ext cx="450574" cy="514869"/>
          </a:xfrm>
          <a:prstGeom prst="downArrow">
            <a:avLst/>
          </a:prstGeom>
          <a:solidFill>
            <a:srgbClr val="0345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8E418C0F-A420-E83D-D7B5-0DD6AEA24BAC}"/>
              </a:ext>
            </a:extLst>
          </p:cNvPr>
          <p:cNvSpPr/>
          <p:nvPr/>
        </p:nvSpPr>
        <p:spPr>
          <a:xfrm>
            <a:off x="7666029" y="4386221"/>
            <a:ext cx="450574" cy="514869"/>
          </a:xfrm>
          <a:prstGeom prst="downArrow">
            <a:avLst/>
          </a:prstGeom>
          <a:solidFill>
            <a:srgbClr val="0345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7D9D0A-68D3-FDD9-A167-157617EAABCF}"/>
              </a:ext>
            </a:extLst>
          </p:cNvPr>
          <p:cNvSpPr txBox="1"/>
          <p:nvPr/>
        </p:nvSpPr>
        <p:spPr>
          <a:xfrm>
            <a:off x="3759443" y="4961661"/>
            <a:ext cx="1470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3457C"/>
                </a:solidFill>
              </a:rPr>
              <a:t>QFT-Based Operations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0169C4-360C-CDEE-E8F8-5CD5B77DDE11}"/>
              </a:ext>
            </a:extLst>
          </p:cNvPr>
          <p:cNvSpPr txBox="1"/>
          <p:nvPr/>
        </p:nvSpPr>
        <p:spPr>
          <a:xfrm>
            <a:off x="6991582" y="4959233"/>
            <a:ext cx="1911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3457C"/>
                </a:solidFill>
              </a:rPr>
              <a:t>Intermediate representations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9FC31B9-D990-5685-4D02-1DEB9D5DF548}"/>
              </a:ext>
            </a:extLst>
          </p:cNvPr>
          <p:cNvGrpSpPr/>
          <p:nvPr/>
        </p:nvGrpSpPr>
        <p:grpSpPr>
          <a:xfrm>
            <a:off x="6665976" y="5586074"/>
            <a:ext cx="3631801" cy="645705"/>
            <a:chOff x="8878251" y="4952558"/>
            <a:chExt cx="3631801" cy="645705"/>
          </a:xfrm>
        </p:grpSpPr>
        <p:pic>
          <p:nvPicPr>
            <p:cNvPr id="24" name="Graphic 23" descr="Checkmark with solid fill">
              <a:extLst>
                <a:ext uri="{FF2B5EF4-FFF2-40B4-BE49-F238E27FC236}">
                  <a16:creationId xmlns:a16="http://schemas.microsoft.com/office/drawing/2014/main" id="{21A6C48D-EE52-5D1E-690F-BF31AAB2F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78251" y="4993853"/>
              <a:ext cx="286743" cy="28674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A18A315-5D03-6733-0377-B15C2E73E281}"/>
                </a:ext>
              </a:extLst>
            </p:cNvPr>
            <p:cNvSpPr txBox="1"/>
            <p:nvPr/>
          </p:nvSpPr>
          <p:spPr>
            <a:xfrm>
              <a:off x="9164994" y="4952558"/>
              <a:ext cx="25422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/>
                <a:t>Classical Optimizations</a:t>
              </a:r>
            </a:p>
          </p:txBody>
        </p:sp>
        <p:pic>
          <p:nvPicPr>
            <p:cNvPr id="49" name="Graphic 48" descr="Checkmark with solid fill">
              <a:extLst>
                <a:ext uri="{FF2B5EF4-FFF2-40B4-BE49-F238E27FC236}">
                  <a16:creationId xmlns:a16="http://schemas.microsoft.com/office/drawing/2014/main" id="{A5267D41-7C9C-7A1D-AC2C-7BA088A83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84879" y="5292025"/>
              <a:ext cx="286743" cy="286743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B7DA9C6-CAF4-8A82-C98F-1C07AD7B4DFA}"/>
                </a:ext>
              </a:extLst>
            </p:cNvPr>
            <p:cNvSpPr txBox="1"/>
            <p:nvPr/>
          </p:nvSpPr>
          <p:spPr>
            <a:xfrm>
              <a:off x="9171621" y="5290486"/>
              <a:ext cx="33384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/>
                <a:t>Quantum </a:t>
              </a:r>
              <a:r>
                <a:rPr lang="en-US" sz="1400" b="1" err="1"/>
                <a:t>Transpiling</a:t>
              </a:r>
              <a:r>
                <a:rPr lang="en-US" sz="1400" b="1"/>
                <a:t> Optimizations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015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023 L -0.00013 -0.1298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7" grpId="0" animBg="1"/>
      <p:bldP spid="18" grpId="0" animBg="1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B48C5-8F67-F59A-1203-9B739BF4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96BA89A-45FB-9CD6-8ACF-ED55A4F03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56604-2512-B306-DA99-D6046BF1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739210"/>
            <a:ext cx="60502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and goals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926960-0B16-7D29-DC1C-592723780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2BB983-5DCA-4990-D290-DE6D4850B01C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 descr="Bullseye">
            <a:extLst>
              <a:ext uri="{FF2B5EF4-FFF2-40B4-BE49-F238E27FC236}">
                <a16:creationId xmlns:a16="http://schemas.microsoft.com/office/drawing/2014/main" id="{C7F13156-DBE9-72EC-E0FE-6C1B798792EB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10C8C5-8AF6-4D7E-96CB-AB7BD735F55A}"/>
              </a:ext>
            </a:extLst>
          </p:cNvPr>
          <p:cNvSpPr txBox="1"/>
          <p:nvPr/>
        </p:nvSpPr>
        <p:spPr>
          <a:xfrm>
            <a:off x="517869" y="2005351"/>
            <a:ext cx="10033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Why is addressing this challenge valuable for quantum technologies?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A0435B2-6651-080C-F52F-37EFCF891879}"/>
              </a:ext>
            </a:extLst>
          </p:cNvPr>
          <p:cNvGrpSpPr/>
          <p:nvPr/>
        </p:nvGrpSpPr>
        <p:grpSpPr>
          <a:xfrm>
            <a:off x="654050" y="3137629"/>
            <a:ext cx="10604500" cy="1054150"/>
            <a:chOff x="654050" y="3168625"/>
            <a:chExt cx="10604500" cy="1054150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F36C3F1B-2AE3-34E5-982D-F7DDF12964DD}"/>
                </a:ext>
              </a:extLst>
            </p:cNvPr>
            <p:cNvSpPr/>
            <p:nvPr/>
          </p:nvSpPr>
          <p:spPr>
            <a:xfrm>
              <a:off x="654050" y="3168625"/>
              <a:ext cx="10604500" cy="105415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31" descr="Programmer">
              <a:extLst>
                <a:ext uri="{FF2B5EF4-FFF2-40B4-BE49-F238E27FC236}">
                  <a16:creationId xmlns:a16="http://schemas.microsoft.com/office/drawing/2014/main" id="{2EEADE1A-5614-3466-3AC3-7BAA3EB272D8}"/>
                </a:ext>
              </a:extLst>
            </p:cNvPr>
            <p:cNvSpPr/>
            <p:nvPr/>
          </p:nvSpPr>
          <p:spPr>
            <a:xfrm>
              <a:off x="972930" y="3405809"/>
              <a:ext cx="579782" cy="579782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7A8A117-01C0-7EA2-A127-0E224C51E236}"/>
                </a:ext>
              </a:extLst>
            </p:cNvPr>
            <p:cNvGrpSpPr/>
            <p:nvPr/>
          </p:nvGrpSpPr>
          <p:grpSpPr>
            <a:xfrm>
              <a:off x="1871594" y="3168625"/>
              <a:ext cx="9386955" cy="1054150"/>
              <a:chOff x="1217544" y="570998"/>
              <a:chExt cx="9386955" cy="105415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7C9E35F-0172-E8CE-4A5D-A328397B2F01}"/>
                  </a:ext>
                </a:extLst>
              </p:cNvPr>
              <p:cNvSpPr/>
              <p:nvPr/>
            </p:nvSpPr>
            <p:spPr>
              <a:xfrm>
                <a:off x="1217544" y="570998"/>
                <a:ext cx="9386955" cy="105415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416C82-9F94-E68A-DAE6-ECD1D919E615}"/>
                  </a:ext>
                </a:extLst>
              </p:cNvPr>
              <p:cNvSpPr txBox="1"/>
              <p:nvPr/>
            </p:nvSpPr>
            <p:spPr>
              <a:xfrm>
                <a:off x="1217544" y="570998"/>
                <a:ext cx="9386955" cy="10541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1564" tIns="111564" rIns="111564" bIns="111564" numCol="1" spcCol="1270" anchor="ctr" anchorCtr="0">
                <a:noAutofit/>
              </a:bodyPr>
              <a:lstStyle/>
              <a:p>
                <a:pPr marL="0" lvl="0" indent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/>
                  <a:t>Because quantum computing is rapidly advancing, making the integration of classical code especially relevant </a:t>
                </a: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7FC9C13-96C5-46A9-273D-7A1E28486B7F}"/>
              </a:ext>
            </a:extLst>
          </p:cNvPr>
          <p:cNvGrpSpPr/>
          <p:nvPr/>
        </p:nvGrpSpPr>
        <p:grpSpPr>
          <a:xfrm>
            <a:off x="654050" y="4775929"/>
            <a:ext cx="10604500" cy="1054150"/>
            <a:chOff x="654050" y="4806925"/>
            <a:chExt cx="10604500" cy="1054150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23254DCC-0BEC-7846-B0C6-D03909F755AB}"/>
                </a:ext>
              </a:extLst>
            </p:cNvPr>
            <p:cNvSpPr/>
            <p:nvPr/>
          </p:nvSpPr>
          <p:spPr>
            <a:xfrm>
              <a:off x="654050" y="4806925"/>
              <a:ext cx="10604500" cy="105415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36" descr="Atom">
              <a:extLst>
                <a:ext uri="{FF2B5EF4-FFF2-40B4-BE49-F238E27FC236}">
                  <a16:creationId xmlns:a16="http://schemas.microsoft.com/office/drawing/2014/main" id="{414702D4-87DD-98CF-52E8-E31B2583A52D}"/>
                </a:ext>
              </a:extLst>
            </p:cNvPr>
            <p:cNvSpPr/>
            <p:nvPr/>
          </p:nvSpPr>
          <p:spPr>
            <a:xfrm>
              <a:off x="972930" y="5044138"/>
              <a:ext cx="579782" cy="579782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DAED5A2-CC2A-6390-B263-2BA23FDA6810}"/>
                </a:ext>
              </a:extLst>
            </p:cNvPr>
            <p:cNvGrpSpPr/>
            <p:nvPr/>
          </p:nvGrpSpPr>
          <p:grpSpPr>
            <a:xfrm>
              <a:off x="1871594" y="4806925"/>
              <a:ext cx="9386955" cy="1054150"/>
              <a:chOff x="1217544" y="1373101"/>
              <a:chExt cx="9386955" cy="105415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B3594EE-A034-9DAE-FC7A-448808A527FF}"/>
                  </a:ext>
                </a:extLst>
              </p:cNvPr>
              <p:cNvSpPr/>
              <p:nvPr/>
            </p:nvSpPr>
            <p:spPr>
              <a:xfrm>
                <a:off x="1217544" y="1373101"/>
                <a:ext cx="9386955" cy="105415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6CAD2E5-4D0B-C32E-9B1A-1E3765FF009B}"/>
                  </a:ext>
                </a:extLst>
              </p:cNvPr>
              <p:cNvSpPr txBox="1"/>
              <p:nvPr/>
            </p:nvSpPr>
            <p:spPr>
              <a:xfrm>
                <a:off x="1217544" y="1373101"/>
                <a:ext cx="9386955" cy="105415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1564" tIns="111564" rIns="111564" bIns="111564" numCol="1" spcCol="1270" anchor="ctr" anchorCtr="0">
                <a:noAutofit/>
              </a:bodyPr>
              <a:lstStyle/>
              <a:p>
                <a:pPr marL="0" lvl="0" indent="0" algn="l" defTabSz="8890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/>
                  <a:t>To reduce hybrid computing and shift classical routines entirely to quantum systems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862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4.81481E-6 L -0.00026 -0.1287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643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1207A-A2C0-C904-E983-02225EA8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3DF8F7F-78A0-0D3F-EBF4-29F56FD13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BEDEB-E8A3-E2C0-16A3-2F5E0C06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739210"/>
            <a:ext cx="60502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Pipeline Description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9A8B6E-D4D0-7E6F-5825-8133B88A1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41203-9BD2-1F0F-0244-32E5604F752E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DC7073C-568B-8A05-71C1-347DD7B42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600" y="1164337"/>
            <a:ext cx="5225288" cy="227800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The compilation pipeline is designed as a modular </a:t>
            </a:r>
            <a:r>
              <a:rPr lang="en-US" b="1">
                <a:solidFill>
                  <a:srgbClr val="03457C"/>
                </a:solidFill>
              </a:rPr>
              <a:t>multi-stage process</a:t>
            </a:r>
            <a:r>
              <a:rPr lang="en-US" b="1"/>
              <a:t> </a:t>
            </a:r>
            <a:r>
              <a:rPr lang="en-US"/>
              <a:t>that transforms high-level classical programs into executable quantum circuits. It progresses through a sequence of abstractions that gradually lower the source code while </a:t>
            </a:r>
            <a:r>
              <a:rPr lang="en-US" b="1"/>
              <a:t>preserving semantic structure </a:t>
            </a:r>
            <a:r>
              <a:rPr lang="en-US"/>
              <a:t>and </a:t>
            </a:r>
            <a:r>
              <a:rPr lang="en-US" b="1"/>
              <a:t>complying with quantum mechanical constraints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15" name="Graphic 14" descr="Workflow with solid fill">
            <a:extLst>
              <a:ext uri="{FF2B5EF4-FFF2-40B4-BE49-F238E27FC236}">
                <a16:creationId xmlns:a16="http://schemas.microsoft.com/office/drawing/2014/main" id="{CC01EBD4-35FF-7B6E-C63C-67D5B960E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4290" y="213022"/>
            <a:ext cx="692766" cy="692766"/>
          </a:xfrm>
          <a:prstGeom prst="rect">
            <a:avLst/>
          </a:prstGeom>
        </p:spPr>
      </p:pic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7475CBC7-AE76-9522-7073-7713BD1E1A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265805"/>
              </p:ext>
            </p:extLst>
          </p:nvPr>
        </p:nvGraphicFramePr>
        <p:xfrm>
          <a:off x="635432" y="3423277"/>
          <a:ext cx="10805646" cy="2949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4040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Graphic spid="2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9612A-9144-46B5-200B-4C99602E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6BD5541-FC9A-5FD7-4D19-2F58D0351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41BFD-A249-4D54-0ADF-F2E788C8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739210"/>
            <a:ext cx="60502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Pipeline Description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F531B7-E17D-D4CC-F769-C76004C4A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1C1F79-45BE-07BC-1B80-4E032395E0F0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Workflow with solid fill">
            <a:extLst>
              <a:ext uri="{FF2B5EF4-FFF2-40B4-BE49-F238E27FC236}">
                <a16:creationId xmlns:a16="http://schemas.microsoft.com/office/drawing/2014/main" id="{CFFA25B4-D146-A8E3-EF9C-5B9999E43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4290" y="213022"/>
            <a:ext cx="692766" cy="692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3E3203-83BB-F9A2-EB93-441739598E07}"/>
              </a:ext>
            </a:extLst>
          </p:cNvPr>
          <p:cNvSpPr txBox="1"/>
          <p:nvPr/>
        </p:nvSpPr>
        <p:spPr>
          <a:xfrm>
            <a:off x="517869" y="1834869"/>
            <a:ext cx="3383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Adopted Technologies</a:t>
            </a:r>
          </a:p>
        </p:txBody>
      </p:sp>
      <p:pic>
        <p:nvPicPr>
          <p:cNvPr id="8" name="Picture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0C377566-E9B2-676B-279B-1223F5FDB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93" y="2324484"/>
            <a:ext cx="9779431" cy="453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4.375E-6 -0.1199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9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CF6A-3488-923F-D633-DD70BFAE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C4F86-7695-5C23-0A6C-B754357C3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16079"/>
            <a:ext cx="11507876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Custom MLIR Dialect for C-to-IR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7FD8CA-2BDA-A7C6-F499-1FFF9557C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776187"/>
            <a:ext cx="11155680" cy="19242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We define a custom MLIR-based dialect to lower a subset of C programs into a structured intermediate representation.</a:t>
            </a:r>
          </a:p>
          <a:p>
            <a:pPr marL="0" indent="0">
              <a:buNone/>
            </a:pPr>
            <a:r>
              <a:rPr lang="en-US"/>
              <a:t>The dialect combines:</a:t>
            </a:r>
          </a:p>
          <a:p>
            <a:r>
              <a:rPr lang="en-US" b="1"/>
              <a:t>Standard MLIR operations</a:t>
            </a:r>
            <a:r>
              <a:rPr lang="en-US"/>
              <a:t> (</a:t>
            </a:r>
            <a:r>
              <a:rPr lang="en-US" i="1" err="1"/>
              <a:t>arith</a:t>
            </a:r>
            <a:r>
              <a:rPr lang="en-US" i="1"/>
              <a:t>, </a:t>
            </a:r>
            <a:r>
              <a:rPr lang="en-US" i="1" err="1"/>
              <a:t>func</a:t>
            </a:r>
            <a:r>
              <a:rPr lang="en-US" i="1"/>
              <a:t>, </a:t>
            </a:r>
            <a:r>
              <a:rPr lang="en-US" i="1" err="1"/>
              <a:t>cf</a:t>
            </a:r>
            <a:r>
              <a:rPr lang="en-US" i="1"/>
              <a:t>, </a:t>
            </a:r>
            <a:r>
              <a:rPr lang="en-US" i="1" err="1"/>
              <a:t>builtin</a:t>
            </a:r>
            <a:r>
              <a:rPr lang="en-US"/>
              <a:t>)</a:t>
            </a:r>
          </a:p>
          <a:p>
            <a:r>
              <a:rPr lang="en-US" b="1"/>
              <a:t>Custom operations</a:t>
            </a:r>
            <a:r>
              <a:rPr lang="en-US"/>
              <a:t> (</a:t>
            </a:r>
            <a:r>
              <a:rPr lang="en-US" i="1" err="1"/>
              <a:t>iarith</a:t>
            </a:r>
            <a:r>
              <a:rPr lang="en-US" i="1"/>
              <a:t>.*_</a:t>
            </a:r>
            <a:r>
              <a:rPr lang="en-US" i="1" err="1"/>
              <a:t>imm</a:t>
            </a:r>
            <a:r>
              <a:rPr lang="en-US"/>
              <a:t>) for arithmetic with constants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45C38C-C80B-025B-F420-3F1840B3D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185443"/>
              </p:ext>
            </p:extLst>
          </p:nvPr>
        </p:nvGraphicFramePr>
        <p:xfrm>
          <a:off x="513843" y="3892867"/>
          <a:ext cx="11156949" cy="2560320"/>
        </p:xfrm>
        <a:graphic>
          <a:graphicData uri="http://schemas.openxmlformats.org/drawingml/2006/table">
            <a:tbl>
              <a:tblPr/>
              <a:tblGrid>
                <a:gridCol w="3718983">
                  <a:extLst>
                    <a:ext uri="{9D8B030D-6E8A-4147-A177-3AD203B41FA5}">
                      <a16:colId xmlns:a16="http://schemas.microsoft.com/office/drawing/2014/main" val="3431557283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279833131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412656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MLIR Dialect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351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Arithmetic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err="1"/>
                        <a:t>arith.addi</a:t>
                      </a:r>
                      <a:r>
                        <a:rPr lang="en-US" i="1"/>
                        <a:t>, </a:t>
                      </a:r>
                      <a:r>
                        <a:rPr lang="en-US" i="1" err="1"/>
                        <a:t>subi</a:t>
                      </a:r>
                      <a:r>
                        <a:rPr lang="en-US" i="1"/>
                        <a:t>, </a:t>
                      </a:r>
                      <a:r>
                        <a:rPr lang="en-US" i="1" err="1"/>
                        <a:t>muli</a:t>
                      </a:r>
                      <a:r>
                        <a:rPr lang="en-US" i="1"/>
                        <a:t>, </a:t>
                      </a:r>
                      <a:r>
                        <a:rPr lang="en-US" i="1" err="1"/>
                        <a:t>divsi</a:t>
                      </a:r>
                      <a:endParaRPr lang="en-US" i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%1 = </a:t>
                      </a:r>
                      <a:r>
                        <a:rPr lang="en-US" sz="1400" strike="noStrike" err="1">
                          <a:latin typeface="PT Mono" panose="02060509020205020204" pitchFamily="49" charset="77"/>
                          <a:ea typeface="AppleMyungjo" pitchFamily="2" charset="-127"/>
                        </a:rPr>
                        <a:t>arith.addi</a:t>
                      </a: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 %a, %b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Immediate arith.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err="1"/>
                        <a:t>iarith.addi_imm</a:t>
                      </a:r>
                      <a:r>
                        <a:rPr lang="en-US" i="1"/>
                        <a:t>, </a:t>
                      </a:r>
                      <a:r>
                        <a:rPr lang="en-US" i="1" err="1"/>
                        <a:t>subi_imm</a:t>
                      </a:r>
                      <a:r>
                        <a:rPr lang="en-US" i="1"/>
                        <a:t>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%1 = </a:t>
                      </a:r>
                      <a:r>
                        <a:rPr lang="en-US" sz="1400" strike="noStrike" err="1">
                          <a:latin typeface="PT Mono" panose="02060509020205020204" pitchFamily="49" charset="77"/>
                          <a:ea typeface="AppleMyungjo" pitchFamily="2" charset="-127"/>
                        </a:rPr>
                        <a:t>iarith.addi_imm</a:t>
                      </a: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 %a,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318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err="1"/>
                        <a:t>arith.cmpi</a:t>
                      </a:r>
                      <a:endParaRPr lang="en-US" i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%</a:t>
                      </a:r>
                      <a:r>
                        <a:rPr lang="en-US" sz="1400" strike="noStrike" err="1">
                          <a:latin typeface="PT Mono" panose="02060509020205020204" pitchFamily="49" charset="77"/>
                          <a:ea typeface="AppleMyungjo" pitchFamily="2" charset="-127"/>
                        </a:rPr>
                        <a:t>cmp</a:t>
                      </a: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 = </a:t>
                      </a:r>
                      <a:r>
                        <a:rPr lang="en-US" sz="1400" strike="noStrike" err="1">
                          <a:latin typeface="PT Mono" panose="02060509020205020204" pitchFamily="49" charset="77"/>
                          <a:ea typeface="AppleMyungjo" pitchFamily="2" charset="-127"/>
                        </a:rPr>
                        <a:t>cmpi</a:t>
                      </a: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 </a:t>
                      </a:r>
                      <a:r>
                        <a:rPr lang="en-US" sz="1400" strike="noStrike" err="1">
                          <a:latin typeface="PT Mono" panose="02060509020205020204" pitchFamily="49" charset="77"/>
                          <a:ea typeface="AppleMyungjo" pitchFamily="2" charset="-127"/>
                        </a:rPr>
                        <a:t>slt</a:t>
                      </a: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 %a, %b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866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Constants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err="1"/>
                        <a:t>arith.constant</a:t>
                      </a:r>
                      <a:endParaRPr lang="en-US" i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%c = constant 42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657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err="1"/>
                        <a:t>func.func</a:t>
                      </a:r>
                      <a:r>
                        <a:rPr lang="en-US" i="1"/>
                        <a:t>, </a:t>
                      </a:r>
                      <a:r>
                        <a:rPr lang="en-US" i="1" err="1"/>
                        <a:t>func.return</a:t>
                      </a:r>
                      <a:endParaRPr lang="en-US" i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strike="noStrike" err="1">
                          <a:latin typeface="PT Mono" panose="02060509020205020204" pitchFamily="49" charset="77"/>
                          <a:ea typeface="AppleMyungjo" pitchFamily="2" charset="-127"/>
                        </a:rPr>
                        <a:t>func.func</a:t>
                      </a: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 @main() -&gt; i32 { ... 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97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Conditionals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err="1"/>
                        <a:t>cf.cond_br</a:t>
                      </a:r>
                      <a:endParaRPr lang="en-US" i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strike="noStrike" err="1">
                          <a:latin typeface="PT Mono" panose="02060509020205020204" pitchFamily="49" charset="77"/>
                          <a:ea typeface="AppleMyungjo" pitchFamily="2" charset="-127"/>
                        </a:rPr>
                        <a:t>cond_br</a:t>
                      </a: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 %</a:t>
                      </a:r>
                      <a:r>
                        <a:rPr lang="en-US" sz="1400" strike="noStrike" err="1">
                          <a:latin typeface="PT Mono" panose="02060509020205020204" pitchFamily="49" charset="77"/>
                          <a:ea typeface="AppleMyungjo" pitchFamily="2" charset="-127"/>
                        </a:rPr>
                        <a:t>cond</a:t>
                      </a:r>
                      <a:r>
                        <a:rPr lang="en-US" sz="1400" strike="noStrike">
                          <a:latin typeface="PT Mono" panose="02060509020205020204" pitchFamily="49" charset="77"/>
                          <a:ea typeface="AppleMyungjo" pitchFamily="2" charset="-127"/>
                        </a:rPr>
                        <a:t>, ^then, ^else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91369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1293453-621B-4FCA-AFF3-AF19ACA66877}"/>
              </a:ext>
            </a:extLst>
          </p:cNvPr>
          <p:cNvSpPr txBox="1"/>
          <p:nvPr/>
        </p:nvSpPr>
        <p:spPr>
          <a:xfrm>
            <a:off x="8576430" y="3852862"/>
            <a:ext cx="33380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3457C"/>
                </a:solidFill>
              </a:rPr>
              <a:t>Semantic 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Each variable must be </a:t>
            </a:r>
            <a:r>
              <a:rPr lang="en-US" b="1"/>
              <a:t>declared and initialized</a:t>
            </a:r>
            <a:r>
              <a:rPr lang="en-US"/>
              <a:t> before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arrays, structs, or pointers (</a:t>
            </a:r>
            <a:r>
              <a:rPr lang="en-US" b="1"/>
              <a:t>scalar integers only</a:t>
            </a:r>
            <a:r>
              <a:rPr lang="en-U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SSA form </a:t>
            </a:r>
            <a:r>
              <a:rPr lang="en-US" b="1"/>
              <a:t>strictly enforced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BEB49-35A5-E3D9-24DF-58CE8924CCCC}"/>
              </a:ext>
            </a:extLst>
          </p:cNvPr>
          <p:cNvSpPr txBox="1"/>
          <p:nvPr/>
        </p:nvSpPr>
        <p:spPr>
          <a:xfrm>
            <a:off x="521209" y="3852863"/>
            <a:ext cx="3656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IF Statements</a:t>
            </a:r>
          </a:p>
          <a:p>
            <a:r>
              <a:rPr lang="en-US"/>
              <a:t>Translated using</a:t>
            </a:r>
            <a:r>
              <a:rPr lang="en-US" b="1"/>
              <a:t> </a:t>
            </a:r>
            <a:r>
              <a:rPr lang="en-US" b="1" err="1"/>
              <a:t>cf.cond_br</a:t>
            </a:r>
            <a:endParaRPr lang="en-US"/>
          </a:p>
          <a:p>
            <a:r>
              <a:rPr lang="en-US"/>
              <a:t>Logical </a:t>
            </a:r>
            <a:r>
              <a:rPr lang="en-US">
                <a:latin typeface="PT Mono" panose="02060509020205020204" pitchFamily="49" charset="77"/>
              </a:rPr>
              <a:t>&amp;&amp;</a:t>
            </a:r>
            <a:r>
              <a:rPr lang="en-US"/>
              <a:t>   → nested if</a:t>
            </a:r>
          </a:p>
          <a:p>
            <a:r>
              <a:rPr lang="en-US"/>
              <a:t>Logical </a:t>
            </a:r>
            <a:r>
              <a:rPr lang="en-US">
                <a:latin typeface="PT Mono" panose="02060509020205020204" pitchFamily="49" charset="77"/>
              </a:rPr>
              <a:t>|| </a:t>
            </a:r>
            <a:r>
              <a:rPr lang="en-US"/>
              <a:t>→ duplicated if blocks</a:t>
            </a:r>
          </a:p>
          <a:p>
            <a:endParaRPr lang="en-US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3AB6DC-51BD-DD7E-5CBD-A2A204A6BFB1}"/>
              </a:ext>
            </a:extLst>
          </p:cNvPr>
          <p:cNvSpPr txBox="1"/>
          <p:nvPr/>
        </p:nvSpPr>
        <p:spPr>
          <a:xfrm>
            <a:off x="4545771" y="3852863"/>
            <a:ext cx="36567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FOR Loops</a:t>
            </a:r>
          </a:p>
          <a:p>
            <a:r>
              <a:rPr lang="en-US"/>
              <a:t>Translated by </a:t>
            </a:r>
            <a:r>
              <a:rPr lang="en-US" b="1"/>
              <a:t>loop unrolling</a:t>
            </a:r>
            <a:r>
              <a:rPr lang="en-US"/>
              <a:t> (up to MAX_UNROLL)</a:t>
            </a:r>
          </a:p>
          <a:p>
            <a:r>
              <a:rPr lang="en-US"/>
              <a:t>Each iteration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condition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body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increment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re-evaluation</a:t>
            </a:r>
          </a:p>
          <a:p>
            <a:endParaRPr lang="en-US" b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58BBA5-41CF-71E3-386E-96BA87D85660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4">
            <a:extLst>
              <a:ext uri="{FF2B5EF4-FFF2-40B4-BE49-F238E27FC236}">
                <a16:creationId xmlns:a16="http://schemas.microsoft.com/office/drawing/2014/main" id="{650D35DD-608E-7304-8912-F9CC0259306B}"/>
              </a:ext>
            </a:extLst>
          </p:cNvPr>
          <p:cNvSpPr/>
          <p:nvPr/>
        </p:nvSpPr>
        <p:spPr>
          <a:xfrm>
            <a:off x="11064240" y="142632"/>
            <a:ext cx="768538" cy="791326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7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CAF19-7559-0E2F-1FE8-423D0C48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468B-7AF8-2BE3-3888-CD743AD4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16079"/>
            <a:ext cx="11507876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Quantum MLIR Dialect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70C4D-1E5B-4EF6-3441-25AB36EF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33266"/>
            <a:ext cx="11155680" cy="185609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 custom MLIR dialect for quantum arithmetic and control logic:</a:t>
            </a:r>
          </a:p>
          <a:p>
            <a:r>
              <a:rPr lang="en-US"/>
              <a:t>Replaces standard </a:t>
            </a:r>
            <a:r>
              <a:rPr lang="en-US" i="1" err="1"/>
              <a:t>arith</a:t>
            </a:r>
            <a:r>
              <a:rPr lang="en-US"/>
              <a:t> operations with </a:t>
            </a:r>
            <a:r>
              <a:rPr lang="en-US" b="1"/>
              <a:t>quantum-safe equivalents</a:t>
            </a:r>
            <a:endParaRPr lang="en-US"/>
          </a:p>
          <a:p>
            <a:r>
              <a:rPr lang="en-US"/>
              <a:t>Enforces constraints such as </a:t>
            </a:r>
            <a:r>
              <a:rPr lang="en-US" b="1"/>
              <a:t>no copying</a:t>
            </a:r>
            <a:r>
              <a:rPr lang="en-US"/>
              <a:t>, </a:t>
            </a:r>
            <a:r>
              <a:rPr lang="en-US" b="1"/>
              <a:t>controlled execution</a:t>
            </a:r>
            <a:r>
              <a:rPr lang="en-US"/>
              <a:t>, and </a:t>
            </a:r>
            <a:r>
              <a:rPr lang="en-US" b="1"/>
              <a:t>SSA integrity</a:t>
            </a:r>
            <a:endParaRPr lang="en-US"/>
          </a:p>
          <a:p>
            <a:r>
              <a:rPr lang="en-US"/>
              <a:t>Supports both </a:t>
            </a:r>
            <a:r>
              <a:rPr lang="en-US" b="1"/>
              <a:t>classical-to-quantum translation</a:t>
            </a:r>
            <a:r>
              <a:rPr lang="en-US"/>
              <a:t> and </a:t>
            </a:r>
            <a:r>
              <a:rPr lang="en-US" b="1"/>
              <a:t>high-level synthesis</a:t>
            </a:r>
            <a:endParaRPr lang="en-US"/>
          </a:p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22A571-E548-0466-6DD5-7D0345A61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634795"/>
              </p:ext>
            </p:extLst>
          </p:nvPr>
        </p:nvGraphicFramePr>
        <p:xfrm>
          <a:off x="521208" y="4334827"/>
          <a:ext cx="11156949" cy="1828800"/>
        </p:xfrm>
        <a:graphic>
          <a:graphicData uri="http://schemas.openxmlformats.org/drawingml/2006/table">
            <a:tbl>
              <a:tblPr/>
              <a:tblGrid>
                <a:gridCol w="3321178">
                  <a:extLst>
                    <a:ext uri="{9D8B030D-6E8A-4147-A177-3AD203B41FA5}">
                      <a16:colId xmlns:a16="http://schemas.microsoft.com/office/drawing/2014/main" val="2370247691"/>
                    </a:ext>
                  </a:extLst>
                </a:gridCol>
                <a:gridCol w="4116788">
                  <a:extLst>
                    <a:ext uri="{9D8B030D-6E8A-4147-A177-3AD203B41FA5}">
                      <a16:colId xmlns:a16="http://schemas.microsoft.com/office/drawing/2014/main" val="3519683771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717162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MLIR 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262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quantum.addi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quantum.addi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%b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 integer 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438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quantum.subi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quantum.subi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%b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 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893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quantum.muli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quantum.muli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%b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 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998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quantum.divsi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quantum.divsi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%b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Signed 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12994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EEC3100-87D2-9A20-EA95-2DDD5B120135}"/>
              </a:ext>
            </a:extLst>
          </p:cNvPr>
          <p:cNvSpPr txBox="1"/>
          <p:nvPr/>
        </p:nvSpPr>
        <p:spPr>
          <a:xfrm>
            <a:off x="513843" y="3734815"/>
            <a:ext cx="6100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457C"/>
                </a:solidFill>
              </a:rPr>
              <a:t>Quantum Arithmetic Operations</a:t>
            </a:r>
            <a:endParaRPr lang="en-US" sz="2000">
              <a:solidFill>
                <a:srgbClr val="03457C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9929CD-BABD-189F-83CD-E229BCEB60B8}"/>
              </a:ext>
            </a:extLst>
          </p:cNvPr>
          <p:cNvSpPr txBox="1"/>
          <p:nvPr/>
        </p:nvSpPr>
        <p:spPr>
          <a:xfrm>
            <a:off x="272955" y="34119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317405-0C4B-85B7-A806-3CAF0800B788}"/>
              </a:ext>
            </a:extLst>
          </p:cNvPr>
          <p:cNvSpPr txBox="1"/>
          <p:nvPr/>
        </p:nvSpPr>
        <p:spPr>
          <a:xfrm>
            <a:off x="513843" y="3734815"/>
            <a:ext cx="6100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457C"/>
                </a:solidFill>
              </a:rPr>
              <a:t>Immediate Arithmetic</a:t>
            </a:r>
            <a:endParaRPr lang="en-US" sz="2000">
              <a:solidFill>
                <a:srgbClr val="03457C"/>
              </a:solidFill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0827DB7-0E91-7C9A-26B3-5974816AF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315915"/>
              </p:ext>
            </p:extLst>
          </p:nvPr>
        </p:nvGraphicFramePr>
        <p:xfrm>
          <a:off x="521208" y="4362122"/>
          <a:ext cx="11156949" cy="1828800"/>
        </p:xfrm>
        <a:graphic>
          <a:graphicData uri="http://schemas.openxmlformats.org/drawingml/2006/table">
            <a:tbl>
              <a:tblPr/>
              <a:tblGrid>
                <a:gridCol w="2808846">
                  <a:extLst>
                    <a:ext uri="{9D8B030D-6E8A-4147-A177-3AD203B41FA5}">
                      <a16:colId xmlns:a16="http://schemas.microsoft.com/office/drawing/2014/main" val="1922910628"/>
                    </a:ext>
                  </a:extLst>
                </a:gridCol>
                <a:gridCol w="4629120">
                  <a:extLst>
                    <a:ext uri="{9D8B030D-6E8A-4147-A177-3AD203B41FA5}">
                      <a16:colId xmlns:a16="http://schemas.microsoft.com/office/drawing/2014/main" val="3853977403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40174755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MLIR 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4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quantum.addi_imm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quantum.addi_imm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5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immediate to quantum register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41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quantum.subi_imm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quantum.subi_imm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3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Subtract immediate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00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quantum.muli_imm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quantum.muli_imm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2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Multiply by immediate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563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quantum.</a:t>
                      </a:r>
                      <a:r>
                        <a:rPr lang="en-US"/>
                        <a:t>divsi</a:t>
                      </a:r>
                      <a:r>
                        <a:rPr lang="en-US" err="1"/>
                        <a:t>_imm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quantum.divsi_imm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4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Divide by immediate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48135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676041D-231B-79E9-0A78-BB5A51D3587C}"/>
              </a:ext>
            </a:extLst>
          </p:cNvPr>
          <p:cNvSpPr txBox="1"/>
          <p:nvPr/>
        </p:nvSpPr>
        <p:spPr>
          <a:xfrm>
            <a:off x="513843" y="3734815"/>
            <a:ext cx="6100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solidFill>
                  <a:srgbClr val="03457C"/>
                </a:solidFill>
              </a:rPr>
              <a:t>Controlled Arithmetic Operations</a:t>
            </a:r>
            <a:endParaRPr lang="en-US" sz="2000">
              <a:solidFill>
                <a:srgbClr val="03457C"/>
              </a:solidFill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D1AAED1-4F9A-049D-93F6-941C77E5C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04869"/>
              </p:ext>
            </p:extLst>
          </p:nvPr>
        </p:nvGraphicFramePr>
        <p:xfrm>
          <a:off x="521208" y="4280379"/>
          <a:ext cx="11352344" cy="1463040"/>
        </p:xfrm>
        <a:graphic>
          <a:graphicData uri="http://schemas.openxmlformats.org/drawingml/2006/table">
            <a:tbl>
              <a:tblPr/>
              <a:tblGrid>
                <a:gridCol w="2413061">
                  <a:extLst>
                    <a:ext uri="{9D8B030D-6E8A-4147-A177-3AD203B41FA5}">
                      <a16:colId xmlns:a16="http://schemas.microsoft.com/office/drawing/2014/main" val="2596877140"/>
                    </a:ext>
                  </a:extLst>
                </a:gridCol>
                <a:gridCol w="5322627">
                  <a:extLst>
                    <a:ext uri="{9D8B030D-6E8A-4147-A177-3AD203B41FA5}">
                      <a16:colId xmlns:a16="http://schemas.microsoft.com/office/drawing/2014/main" val="625146261"/>
                    </a:ext>
                  </a:extLst>
                </a:gridCol>
                <a:gridCol w="3616656">
                  <a:extLst>
                    <a:ext uri="{9D8B030D-6E8A-4147-A177-3AD203B41FA5}">
                      <a16:colId xmlns:a16="http://schemas.microsoft.com/office/drawing/2014/main" val="4141461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MLIR 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084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quantum.c_addi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quantum.c_addi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%b, %ctrl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Addition executed only if ctrl is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068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quantum.c_addi_imm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quantum.c_addi_imm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5, %ctrl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Immediate addition under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58393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(same for </a:t>
                      </a:r>
                      <a:r>
                        <a:rPr lang="en-US" i="1" err="1"/>
                        <a:t>subi</a:t>
                      </a:r>
                      <a:r>
                        <a:rPr lang="en-US" i="1"/>
                        <a:t>, </a:t>
                      </a:r>
                      <a:r>
                        <a:rPr lang="en-US" i="1" err="1"/>
                        <a:t>muli</a:t>
                      </a:r>
                      <a:r>
                        <a:rPr lang="en-US" i="1"/>
                        <a:t>, </a:t>
                      </a:r>
                      <a:r>
                        <a:rPr lang="en-US"/>
                        <a:t>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18199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E08AB7C-FAA9-2036-A040-0F579293FCEE}"/>
              </a:ext>
            </a:extLst>
          </p:cNvPr>
          <p:cNvSpPr txBox="1"/>
          <p:nvPr/>
        </p:nvSpPr>
        <p:spPr>
          <a:xfrm>
            <a:off x="513843" y="3734815"/>
            <a:ext cx="6100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457C"/>
                </a:solidFill>
              </a:rPr>
              <a:t>Control Flow and Logic</a:t>
            </a:r>
            <a:endParaRPr lang="en-US" sz="2000">
              <a:solidFill>
                <a:srgbClr val="03457C"/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E6C0A73-6DC6-DDB0-E77D-9457AF541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991006"/>
              </p:ext>
            </p:extLst>
          </p:nvPr>
        </p:nvGraphicFramePr>
        <p:xfrm>
          <a:off x="513843" y="4280379"/>
          <a:ext cx="11156949" cy="1737360"/>
        </p:xfrm>
        <a:graphic>
          <a:graphicData uri="http://schemas.openxmlformats.org/drawingml/2006/table">
            <a:tbl>
              <a:tblPr/>
              <a:tblGrid>
                <a:gridCol w="2106527">
                  <a:extLst>
                    <a:ext uri="{9D8B030D-6E8A-4147-A177-3AD203B41FA5}">
                      <a16:colId xmlns:a16="http://schemas.microsoft.com/office/drawing/2014/main" val="2680598948"/>
                    </a:ext>
                  </a:extLst>
                </a:gridCol>
                <a:gridCol w="5331439">
                  <a:extLst>
                    <a:ext uri="{9D8B030D-6E8A-4147-A177-3AD203B41FA5}">
                      <a16:colId xmlns:a16="http://schemas.microsoft.com/office/drawing/2014/main" val="3632402800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827071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MLIR 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045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quantum.cmpi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quantum.cmpi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%b [predicate]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Comparison between quantum registers (returns i1)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21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quantum.and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quantum.and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%a, %b : i1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Logical AND on control qubits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637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quantum.not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quantum.not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%a : i1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Logical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17229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A33FA7E-79E7-6609-A044-87C948FA9A01}"/>
              </a:ext>
            </a:extLst>
          </p:cNvPr>
          <p:cNvSpPr txBox="1"/>
          <p:nvPr/>
        </p:nvSpPr>
        <p:spPr>
          <a:xfrm>
            <a:off x="513843" y="3734815"/>
            <a:ext cx="6100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457C"/>
                </a:solidFill>
              </a:rPr>
              <a:t>Register Initialization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49C9CE5-33D7-8BFD-5D3C-6B90753A5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034683"/>
              </p:ext>
            </p:extLst>
          </p:nvPr>
        </p:nvGraphicFramePr>
        <p:xfrm>
          <a:off x="513843" y="4334827"/>
          <a:ext cx="11156949" cy="1371600"/>
        </p:xfrm>
        <a:graphic>
          <a:graphicData uri="http://schemas.openxmlformats.org/drawingml/2006/table">
            <a:tbl>
              <a:tblPr/>
              <a:tblGrid>
                <a:gridCol w="2829858">
                  <a:extLst>
                    <a:ext uri="{9D8B030D-6E8A-4147-A177-3AD203B41FA5}">
                      <a16:colId xmlns:a16="http://schemas.microsoft.com/office/drawing/2014/main" val="2975485193"/>
                    </a:ext>
                  </a:extLst>
                </a:gridCol>
                <a:gridCol w="4608108">
                  <a:extLst>
                    <a:ext uri="{9D8B030D-6E8A-4147-A177-3AD203B41FA5}">
                      <a16:colId xmlns:a16="http://schemas.microsoft.com/office/drawing/2014/main" val="3435803170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025840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MLIR 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3457C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42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quantum.init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quantum.init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 7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Initialize quantum register with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66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quantum.c_init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PT Mono" panose="02060509020205020204" pitchFamily="49" charset="77"/>
                        </a:rPr>
                        <a:t>%r = </a:t>
                      </a:r>
                      <a:r>
                        <a:rPr lang="en-US" sz="1600" err="1">
                          <a:latin typeface="PT Mono" panose="02060509020205020204" pitchFamily="49" charset="77"/>
                        </a:rPr>
                        <a:t>quantum.c_init</a:t>
                      </a:r>
                      <a:r>
                        <a:rPr lang="en-US" sz="1600">
                          <a:latin typeface="PT Mono" panose="02060509020205020204" pitchFamily="49" charset="77"/>
                        </a:rPr>
                        <a:t>(%ctrl) 3 : i32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Controlled initialization with ctrl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454385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CFD68845-AE80-4D7D-337C-6A25F5163940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ttangolo 4">
            <a:extLst>
              <a:ext uri="{FF2B5EF4-FFF2-40B4-BE49-F238E27FC236}">
                <a16:creationId xmlns:a16="http://schemas.microsoft.com/office/drawing/2014/main" id="{8C9FDEE9-E1FE-CC22-EF30-0D18A3F2B7C9}"/>
              </a:ext>
            </a:extLst>
          </p:cNvPr>
          <p:cNvSpPr/>
          <p:nvPr/>
        </p:nvSpPr>
        <p:spPr>
          <a:xfrm>
            <a:off x="11064240" y="142632"/>
            <a:ext cx="768538" cy="791326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9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4" grpId="0"/>
      <p:bldP spid="14" grpId="1"/>
      <p:bldP spid="18" grpId="0"/>
      <p:bldP spid="18" grpId="1"/>
      <p:bldP spid="20" grpId="0"/>
      <p:bldP spid="20" grpId="1"/>
      <p:bldP spid="22" grpId="0"/>
      <p:bldP spid="22" grpId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3BDB1-5429-26A6-F436-201DBA78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268BB-8562-92D0-FDFD-445EA85BA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16079"/>
            <a:ext cx="11507876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Translation of C logic: Integer Representation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48E0F-B9C0-13F4-ABF7-DCBF2F601510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 descr="Caret Right with solid fill">
            <a:extLst>
              <a:ext uri="{FF2B5EF4-FFF2-40B4-BE49-F238E27FC236}">
                <a16:creationId xmlns:a16="http://schemas.microsoft.com/office/drawing/2014/main" id="{18BC7743-22E1-216B-155D-C6A47804B663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74B38D1-E983-9B58-984C-B90FCD3D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01091"/>
            <a:ext cx="6793992" cy="196762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The system allows scalar integer declarations with optional initialization and supports assignments to named variables.</a:t>
            </a:r>
            <a:br>
              <a:rPr lang="en-US"/>
            </a:br>
            <a:r>
              <a:rPr lang="en-US"/>
              <a:t>Each integer is represented in the quantum computer by a quantum register using two's complement representation.</a:t>
            </a:r>
            <a:br>
              <a:rPr lang="en-US"/>
            </a:br>
            <a:r>
              <a:rPr lang="en-US"/>
              <a:t>Initialization is performed by applying NOT gates to the qubits that need to be set to one.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1A73005-53BF-C228-A789-39D729A0D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03" y="4073513"/>
            <a:ext cx="2913888" cy="222226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481BC93-DC44-8F70-A336-019E0B9C0D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62"/>
          <a:stretch>
            <a:fillRect/>
          </a:stretch>
        </p:blipFill>
        <p:spPr>
          <a:xfrm>
            <a:off x="6664036" y="2324964"/>
            <a:ext cx="4823688" cy="34385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2DCD8ED-37BF-5649-DC4C-0B645DC6726D}"/>
              </a:ext>
            </a:extLst>
          </p:cNvPr>
          <p:cNvSpPr txBox="1"/>
          <p:nvPr/>
        </p:nvSpPr>
        <p:spPr>
          <a:xfrm>
            <a:off x="3918204" y="4025226"/>
            <a:ext cx="26404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5 = </a:t>
            </a:r>
            <a:r>
              <a:rPr lang="en-US" sz="4000">
                <a:solidFill>
                  <a:srgbClr val="D73949"/>
                </a:solidFill>
              </a:rPr>
              <a:t>0</a:t>
            </a:r>
            <a:r>
              <a:rPr lang="en-US" sz="4000"/>
              <a:t>00101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4F1347-624F-C448-C546-C06FEFE83944}"/>
              </a:ext>
            </a:extLst>
          </p:cNvPr>
          <p:cNvSpPr txBox="1"/>
          <p:nvPr/>
        </p:nvSpPr>
        <p:spPr>
          <a:xfrm>
            <a:off x="11502400" y="4677198"/>
            <a:ext cx="3786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solidFill>
                  <a:srgbClr val="D73949"/>
                </a:solidFill>
              </a:rPr>
              <a:t>0</a:t>
            </a:r>
            <a:endParaRPr lang="en-US" sz="32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C5924D-0B19-8D2D-56FE-69A9AC0A844A}"/>
              </a:ext>
            </a:extLst>
          </p:cNvPr>
          <p:cNvSpPr txBox="1"/>
          <p:nvPr/>
        </p:nvSpPr>
        <p:spPr>
          <a:xfrm>
            <a:off x="11502399" y="4217962"/>
            <a:ext cx="3786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D261F6-9F2D-CDC3-4567-0F5E9D682F3D}"/>
              </a:ext>
            </a:extLst>
          </p:cNvPr>
          <p:cNvSpPr txBox="1"/>
          <p:nvPr/>
        </p:nvSpPr>
        <p:spPr>
          <a:xfrm>
            <a:off x="11497144" y="3794394"/>
            <a:ext cx="3786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56ED1A-96E0-A393-4253-777E3F1B580D}"/>
              </a:ext>
            </a:extLst>
          </p:cNvPr>
          <p:cNvSpPr txBox="1"/>
          <p:nvPr/>
        </p:nvSpPr>
        <p:spPr>
          <a:xfrm>
            <a:off x="11498686" y="3368791"/>
            <a:ext cx="3786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1016C7-F110-1753-F06F-9C02D8E8F986}"/>
              </a:ext>
            </a:extLst>
          </p:cNvPr>
          <p:cNvSpPr txBox="1"/>
          <p:nvPr/>
        </p:nvSpPr>
        <p:spPr>
          <a:xfrm>
            <a:off x="11498685" y="2909555"/>
            <a:ext cx="3786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BE4EA4B-82E7-D6EC-A5D9-BB685B052537}"/>
              </a:ext>
            </a:extLst>
          </p:cNvPr>
          <p:cNvSpPr txBox="1"/>
          <p:nvPr/>
        </p:nvSpPr>
        <p:spPr>
          <a:xfrm>
            <a:off x="11493430" y="2485987"/>
            <a:ext cx="3786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0068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29" grpId="0"/>
      <p:bldP spid="45" grpId="0"/>
      <p:bldP spid="47" grpId="0"/>
      <p:bldP spid="48" grpId="0"/>
      <p:bldP spid="65" grpId="0"/>
      <p:bldP spid="66" grpId="0"/>
      <p:bldP spid="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E721-BC73-F5BF-02BA-48E57FC4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4208C6-849C-BDC1-B91B-570D3F87CAEF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D7C1F2F0-3322-4AB0-7201-27152C69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44356"/>
          </a:xfrm>
        </p:spPr>
        <p:txBody>
          <a:bodyPr>
            <a:normAutofit/>
          </a:bodyPr>
          <a:lstStyle/>
          <a:p>
            <a:r>
              <a:rPr lang="en-US"/>
              <a:t>Translation of C logic: Operations </a:t>
            </a:r>
            <a:endParaRPr lang="it-IT"/>
          </a:p>
        </p:txBody>
      </p:sp>
      <p:sp>
        <p:nvSpPr>
          <p:cNvPr id="7" name="Rectangle 6" descr="Caret Right with solid fill">
            <a:extLst>
              <a:ext uri="{FF2B5EF4-FFF2-40B4-BE49-F238E27FC236}">
                <a16:creationId xmlns:a16="http://schemas.microsoft.com/office/drawing/2014/main" id="{85EF0915-843F-08FF-6CB7-69F7729AFC3B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A7A7D05B-B0B2-C9C7-FEDA-20C361E1B1EF}"/>
              </a:ext>
            </a:extLst>
          </p:cNvPr>
          <p:cNvSpPr txBox="1">
            <a:spLocks/>
          </p:cNvSpPr>
          <p:nvPr/>
        </p:nvSpPr>
        <p:spPr>
          <a:xfrm>
            <a:off x="6096000" y="1907433"/>
            <a:ext cx="5367147" cy="47974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9A4D94A-6CC7-3E15-0FB7-D48D69118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16825"/>
            <a:ext cx="11155680" cy="470305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100" b="1"/>
              <a:t>add_in_place</a:t>
            </a:r>
            <a:r>
              <a:rPr lang="en-US" sz="1100"/>
              <a:t> : Adds two quantum registers, modifying the first register with the result</a:t>
            </a:r>
            <a:br>
              <a:rPr lang="en-US" sz="1100"/>
            </a:br>
            <a:r>
              <a:rPr lang="en-US" sz="1100" b="1"/>
              <a:t>add</a:t>
            </a:r>
            <a:r>
              <a:rPr lang="en-US" sz="1100"/>
              <a:t> : Adds two quantum registers, storing the result in a new register</a:t>
            </a:r>
            <a:br>
              <a:rPr lang="en-US" sz="1100"/>
            </a:br>
            <a:r>
              <a:rPr lang="en-US" sz="1100" b="1"/>
              <a:t>addi_in_place</a:t>
            </a:r>
            <a:r>
              <a:rPr lang="en-US" sz="1100"/>
              <a:t> : Adds a classical integer to a quantum register, modifying the input register</a:t>
            </a:r>
            <a:br>
              <a:rPr lang="en-US" sz="1100"/>
            </a:br>
            <a:r>
              <a:rPr lang="en-US" sz="1100" b="1"/>
              <a:t>addi</a:t>
            </a:r>
            <a:r>
              <a:rPr lang="en-US" sz="1100"/>
              <a:t> : Adds a classical integer to a quantum register, result stored in a new register</a:t>
            </a:r>
            <a:br>
              <a:rPr lang="en-US" sz="1100"/>
            </a:br>
            <a:r>
              <a:rPr lang="en-US" sz="1100" b="1"/>
              <a:t>sub</a:t>
            </a:r>
            <a:r>
              <a:rPr lang="en-US" sz="1100"/>
              <a:t> : Subtracts one quantum register from another, returns a new register with the result</a:t>
            </a:r>
            <a:br>
              <a:rPr lang="en-US" sz="1100"/>
            </a:br>
            <a:r>
              <a:rPr lang="en-US" sz="1100" b="1"/>
              <a:t>subi</a:t>
            </a:r>
            <a:r>
              <a:rPr lang="en-US" sz="1100"/>
              <a:t> : Subtracts a classical integer from a quantum register, returns a new register with the result</a:t>
            </a:r>
            <a:br>
              <a:rPr lang="en-US" sz="1100"/>
            </a:br>
            <a:r>
              <a:rPr lang="en-US" sz="1100" b="1"/>
              <a:t>invert</a:t>
            </a:r>
            <a:r>
              <a:rPr lang="en-US" sz="1100"/>
              <a:t> : Negates a quantum register in two’s complement form (bitwise NOT + add 1)</a:t>
            </a:r>
            <a:br>
              <a:rPr lang="en-US" sz="1100"/>
            </a:br>
            <a:r>
              <a:rPr lang="en-US" sz="1100" b="1"/>
              <a:t>abs_val</a:t>
            </a:r>
            <a:r>
              <a:rPr lang="en-US" sz="1100"/>
              <a:t> : Converts a quantum register to its absolute value in place</a:t>
            </a:r>
          </a:p>
          <a:p>
            <a:pPr marL="0" indent="0">
              <a:buNone/>
            </a:pPr>
            <a:r>
              <a:rPr lang="en-US" sz="1100" b="1"/>
              <a:t>mul</a:t>
            </a:r>
            <a:r>
              <a:rPr lang="en-US" sz="1100"/>
              <a:t> : Multiplies two quantum registers, result stored in a new register</a:t>
            </a:r>
            <a:br>
              <a:rPr lang="en-US" sz="1100"/>
            </a:br>
            <a:r>
              <a:rPr lang="en-US" sz="1100" b="1"/>
              <a:t>muli</a:t>
            </a:r>
            <a:r>
              <a:rPr lang="en-US" sz="1100"/>
              <a:t> : Multiplies a quantum register by a classical constant, result stored in a new register</a:t>
            </a:r>
          </a:p>
          <a:p>
            <a:pPr marL="0" indent="0">
              <a:buNone/>
            </a:pPr>
            <a:r>
              <a:rPr lang="en-US" sz="1100" b="1"/>
              <a:t>divu</a:t>
            </a:r>
            <a:r>
              <a:rPr lang="en-US" sz="1100"/>
              <a:t> : Performs unsigned division between two quantum registers, returns quotient and remainder</a:t>
            </a:r>
            <a:br>
              <a:rPr lang="en-US" sz="1100"/>
            </a:br>
            <a:r>
              <a:rPr lang="en-US" sz="1100" b="1"/>
              <a:t>divui</a:t>
            </a:r>
            <a:r>
              <a:rPr lang="en-US" sz="1100"/>
              <a:t> : Performs unsigned division between a quantum register and a classical divisor, returns quotient and remainder</a:t>
            </a:r>
            <a:br>
              <a:rPr lang="en-US" sz="1100"/>
            </a:br>
            <a:r>
              <a:rPr lang="en-US" sz="1100" b="1"/>
              <a:t>div</a:t>
            </a:r>
            <a:r>
              <a:rPr lang="en-US" sz="1100"/>
              <a:t> : Performs signed division between two quantum registers, returns quotient and remainder</a:t>
            </a:r>
            <a:br>
              <a:rPr lang="en-US" sz="1100"/>
            </a:br>
            <a:r>
              <a:rPr lang="en-US" sz="1100" b="1"/>
              <a:t>divi</a:t>
            </a:r>
            <a:r>
              <a:rPr lang="en-US" sz="1100"/>
              <a:t> : Performs signed division between a quantum register and a classical divisor, returns quotient and remainder</a:t>
            </a:r>
          </a:p>
          <a:p>
            <a:pPr marL="0" indent="0">
              <a:buNone/>
            </a:pPr>
            <a:r>
              <a:rPr lang="en-US" sz="1100" b="1"/>
              <a:t>equal</a:t>
            </a:r>
            <a:r>
              <a:rPr lang="en-US" sz="1100"/>
              <a:t> : Compares two quantum registers for equality, returns a qubit storing the result</a:t>
            </a:r>
            <a:br>
              <a:rPr lang="en-US" sz="1100"/>
            </a:br>
            <a:r>
              <a:rPr lang="en-US" sz="1100" b="1"/>
              <a:t>not_equal</a:t>
            </a:r>
            <a:r>
              <a:rPr lang="en-US" sz="1100"/>
              <a:t> : Compares two quantum registers for inequality, returns a qubit storing the result</a:t>
            </a:r>
            <a:br>
              <a:rPr lang="en-US" sz="1100"/>
            </a:br>
            <a:r>
              <a:rPr lang="en-US" sz="1100" b="1"/>
              <a:t>less_than</a:t>
            </a:r>
            <a:r>
              <a:rPr lang="en-US" sz="1100"/>
              <a:t> : Compares whether one quantum register is less than another, returns a qubit storing the result</a:t>
            </a:r>
            <a:br>
              <a:rPr lang="en-US" sz="1100"/>
            </a:br>
            <a:r>
              <a:rPr lang="en-US" sz="1100" b="1"/>
              <a:t>greater_than</a:t>
            </a:r>
            <a:r>
              <a:rPr lang="en-US" sz="1100"/>
              <a:t> : Compares whether one quantum register is greater than another, returns a qubit storing the result</a:t>
            </a:r>
            <a:br>
              <a:rPr lang="en-US" sz="1100"/>
            </a:br>
            <a:r>
              <a:rPr lang="en-US" sz="1100" b="1"/>
              <a:t>less_equal</a:t>
            </a:r>
            <a:r>
              <a:rPr lang="en-US" sz="1100"/>
              <a:t> : Compares whether one quantum register is less than or equal to another, returns a qubit storing the result</a:t>
            </a:r>
            <a:br>
              <a:rPr lang="en-US" sz="1100"/>
            </a:br>
            <a:r>
              <a:rPr lang="en-US" sz="1100" b="1"/>
              <a:t>greater_equal</a:t>
            </a:r>
            <a:r>
              <a:rPr lang="en-US" sz="1100"/>
              <a:t> : Compares whether one quantum register is greater than or equal to another, returns a qubit storing the result</a:t>
            </a:r>
          </a:p>
          <a:p>
            <a:pPr marL="0" indent="0">
              <a:buNone/>
            </a:pPr>
            <a:r>
              <a:rPr lang="en-US" sz="1100" b="1"/>
              <a:t>logical_and</a:t>
            </a:r>
            <a:r>
              <a:rPr lang="en-US" sz="1100"/>
              <a:t> : Computes logical AND between two qubits, result stored in a new qubit</a:t>
            </a:r>
            <a:br>
              <a:rPr lang="en-US" sz="1100"/>
            </a:br>
            <a:r>
              <a:rPr lang="en-US" sz="1100" b="1"/>
              <a:t>logical_or</a:t>
            </a:r>
            <a:r>
              <a:rPr lang="en-US" sz="1100"/>
              <a:t> : Computes logical OR between two qubits, result stored in a new qubit</a:t>
            </a:r>
          </a:p>
          <a:p>
            <a:pPr marL="0" indent="0">
              <a:buNone/>
            </a:pPr>
            <a:r>
              <a:rPr lang="en-US" sz="1100" b="1"/>
              <a:t>initialize_variable</a:t>
            </a:r>
            <a:r>
              <a:rPr lang="en-US" sz="1100"/>
              <a:t> : Creates and initializes a quantum register with a classical integer value</a:t>
            </a:r>
            <a:br>
              <a:rPr lang="en-US" sz="1100"/>
            </a:br>
            <a:r>
              <a:rPr lang="en-US" sz="1100" b="1"/>
              <a:t>initialize_bit</a:t>
            </a:r>
            <a:r>
              <a:rPr lang="en-US" sz="1100"/>
              <a:t> : Initializes a single qubit to |0⟩ or |1⟩ based on a classical bit</a:t>
            </a:r>
            <a:br>
              <a:rPr lang="en-US" sz="1100"/>
            </a:br>
            <a:r>
              <a:rPr lang="en-US" sz="1100" b="1"/>
              <a:t>measure</a:t>
            </a:r>
            <a:r>
              <a:rPr lang="en-US" sz="1100"/>
              <a:t> : Measures a quantum register and stores results in a classical register</a:t>
            </a:r>
            <a:br>
              <a:rPr lang="en-US" sz="1100"/>
            </a:br>
            <a:r>
              <a:rPr lang="en-US" sz="1100" b="1"/>
              <a:t>measure_single</a:t>
            </a:r>
            <a:r>
              <a:rPr lang="en-US" sz="1100"/>
              <a:t> : Measures a single qubit and stores the result in a classical bit</a:t>
            </a:r>
            <a:br>
              <a:rPr lang="en-US" sz="1100"/>
            </a:br>
            <a:r>
              <a:rPr lang="en-US" sz="1100" b="1"/>
              <a:t>simulate</a:t>
            </a:r>
            <a:r>
              <a:rPr lang="en-US" sz="1100"/>
              <a:t> : Simulates the quantum circuit and interprets measured output in two’s complement form</a:t>
            </a:r>
          </a:p>
          <a:p>
            <a:pPr marL="0" indent="0">
              <a:buNone/>
            </a:pPr>
            <a:r>
              <a:rPr lang="en-US" sz="1100" b="1"/>
              <a:t>set_number_of_bits</a:t>
            </a:r>
            <a:r>
              <a:rPr lang="en-US" sz="1100"/>
              <a:t> : Sets the global bitwidth used for all arithmetic operations</a:t>
            </a:r>
            <a:br>
              <a:rPr lang="en-US" sz="1100"/>
            </a:br>
            <a:r>
              <a:rPr lang="en-US" sz="1100" b="1"/>
              <a:t>int_to_twos_complement</a:t>
            </a:r>
            <a:r>
              <a:rPr lang="en-US" sz="1100"/>
              <a:t> : Converts a classical integer to its two’s complement bit representation</a:t>
            </a:r>
            <a:br>
              <a:rPr lang="en-US" sz="1100"/>
            </a:br>
            <a:r>
              <a:rPr lang="en-US" sz="1100" b="1"/>
              <a:t>pad_register</a:t>
            </a:r>
            <a:r>
              <a:rPr lang="en-US" sz="1100"/>
              <a:t> : Pads a quantum register with |0⟩ qubits to reach a target size</a:t>
            </a:r>
          </a:p>
          <a:p>
            <a:pPr marL="0" indent="0">
              <a:buNone/>
            </a:pPr>
            <a:endParaRPr lang="it-IT" sz="1100"/>
          </a:p>
        </p:txBody>
      </p:sp>
    </p:spTree>
    <p:extLst>
      <p:ext uri="{BB962C8B-B14F-4D97-AF65-F5344CB8AC3E}">
        <p14:creationId xmlns:p14="http://schemas.microsoft.com/office/powerpoint/2010/main" val="737375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2992B-B4DA-EC51-160A-B6C232845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1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1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8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2AEC7A39-7473-7769-C578-35CAE047E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8409"/>
            <a:ext cx="11149874" cy="12983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Translation of C logic: Operations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DFDE14D-0D7F-F5BD-3CB1-AFE70A33D326}"/>
              </a:ext>
            </a:extLst>
          </p:cNvPr>
          <p:cNvSpPr txBox="1"/>
          <p:nvPr/>
        </p:nvSpPr>
        <p:spPr>
          <a:xfrm>
            <a:off x="1756734" y="5692665"/>
            <a:ext cx="3198725" cy="5629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2200" i="1" err="1"/>
              <a:t>Add_imm</a:t>
            </a:r>
            <a:r>
              <a:rPr lang="en-US" sz="2200" i="1"/>
              <a:t> operation</a:t>
            </a:r>
            <a:endParaRPr lang="en-US" sz="2200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Freeform: Shape 21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magine 4" descr="Immagine che contiene schermata, diagramma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A95E032C-C827-B793-6E32-1BB3D2E262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8" r="2" b="2"/>
          <a:stretch>
            <a:fillRect/>
          </a:stretch>
        </p:blipFill>
        <p:spPr>
          <a:xfrm>
            <a:off x="309713" y="2414725"/>
            <a:ext cx="5835775" cy="3154680"/>
          </a:xfrm>
          <a:prstGeom prst="rect">
            <a:avLst/>
          </a:prstGeom>
        </p:spPr>
      </p:pic>
      <p:pic>
        <p:nvPicPr>
          <p:cNvPr id="11" name="Immagine 10" descr="Immagine che contiene diagramma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DDEA7FDC-E5F9-BA6C-57AC-F966702EDD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11" r="1"/>
          <a:stretch>
            <a:fillRect/>
          </a:stretch>
        </p:blipFill>
        <p:spPr>
          <a:xfrm>
            <a:off x="6272979" y="2414725"/>
            <a:ext cx="5575082" cy="31546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9D01C8-68CE-2CC8-96D8-CBC6378217FF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descr="Caret Right with solid fill">
            <a:extLst>
              <a:ext uri="{FF2B5EF4-FFF2-40B4-BE49-F238E27FC236}">
                <a16:creationId xmlns:a16="http://schemas.microsoft.com/office/drawing/2014/main" id="{32A85B03-95B2-44BA-3804-FF42953B4F40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CasellaDiTesto 7">
            <a:extLst>
              <a:ext uri="{FF2B5EF4-FFF2-40B4-BE49-F238E27FC236}">
                <a16:creationId xmlns:a16="http://schemas.microsoft.com/office/drawing/2014/main" id="{09720A09-2CEE-14C0-B212-DC23A7754CA8}"/>
              </a:ext>
            </a:extLst>
          </p:cNvPr>
          <p:cNvSpPr txBox="1"/>
          <p:nvPr/>
        </p:nvSpPr>
        <p:spPr>
          <a:xfrm>
            <a:off x="7648566" y="5692664"/>
            <a:ext cx="3198725" cy="5629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2200" i="1"/>
              <a:t>Add operation</a:t>
            </a:r>
            <a:endParaRPr lang="en-US" sz="2200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41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AAE1B-8E10-B27C-873E-01724183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: Shape 1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5" name="Freeform: Shape 1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6" name="Rectangle 1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7CDC2495-76A3-8E97-063A-065A83BE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Translation of C logic: Operations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FB95C2-68B3-12F5-CC61-4A372AC14D1A}"/>
              </a:ext>
            </a:extLst>
          </p:cNvPr>
          <p:cNvSpPr txBox="1"/>
          <p:nvPr/>
        </p:nvSpPr>
        <p:spPr>
          <a:xfrm>
            <a:off x="517868" y="4214945"/>
            <a:ext cx="3566453" cy="17418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Multiplication</a:t>
            </a:r>
          </a:p>
        </p:txBody>
      </p:sp>
      <p:sp>
        <p:nvSpPr>
          <p:cNvPr id="67" name="Freeform: Shape 19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magine 4" descr="Immagine che contiene diagramma, testo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1E827DEA-42B9-ADF3-DDD7-8C7F861C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603" y="1663754"/>
            <a:ext cx="7333488" cy="3630075"/>
          </a:xfrm>
          <a:prstGeom prst="rect">
            <a:avLst/>
          </a:prstGeom>
        </p:spPr>
      </p:pic>
      <p:sp>
        <p:nvSpPr>
          <p:cNvPr id="68" name="Freeform: Shape 21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7D8C81-B4C2-5813-D9B9-888504BB337B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descr="Caret Right with solid fill">
            <a:extLst>
              <a:ext uri="{FF2B5EF4-FFF2-40B4-BE49-F238E27FC236}">
                <a16:creationId xmlns:a16="http://schemas.microsoft.com/office/drawing/2014/main" id="{F42492FD-89F9-E4F3-EAC5-4FCCE950DC07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36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1F556-154E-2EAD-1A78-45D28FE0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12E3BF-E86B-C6C1-9439-2F2C255DF6C6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95BCEFA-065A-8EB5-0324-030BD736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44356"/>
          </a:xfrm>
        </p:spPr>
        <p:txBody>
          <a:bodyPr>
            <a:normAutofit/>
          </a:bodyPr>
          <a:lstStyle/>
          <a:p>
            <a:r>
              <a:rPr lang="en-US"/>
              <a:t>Translation of C logic: Conditional clauses</a:t>
            </a:r>
            <a:endParaRPr lang="it-IT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79A9D02-EFE3-5AC8-736A-CDA4CFBFD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22764"/>
            <a:ext cx="11155680" cy="4323172"/>
          </a:xfrm>
        </p:spPr>
        <p:txBody>
          <a:bodyPr/>
          <a:lstStyle/>
          <a:p>
            <a:pPr marL="0" indent="0">
              <a:buNone/>
            </a:pPr>
            <a:r>
              <a:rPr lang="it-IT" b="1"/>
              <a:t>The </a:t>
            </a:r>
            <a:r>
              <a:rPr lang="it-IT" b="1" err="1"/>
              <a:t>implementation</a:t>
            </a:r>
            <a:r>
              <a:rPr lang="it-IT" b="1"/>
              <a:t> of the </a:t>
            </a:r>
            <a:r>
              <a:rPr lang="it-IT" b="1" err="1"/>
              <a:t>conditional</a:t>
            </a:r>
            <a:r>
              <a:rPr lang="it-IT" b="1"/>
              <a:t> </a:t>
            </a:r>
            <a:r>
              <a:rPr lang="it-IT" b="1" err="1"/>
              <a:t>clause</a:t>
            </a:r>
            <a:r>
              <a:rPr lang="it-IT" b="1"/>
              <a:t> </a:t>
            </a:r>
            <a:r>
              <a:rPr lang="it-IT" b="1" err="1"/>
              <a:t>is</a:t>
            </a:r>
            <a:r>
              <a:rPr lang="it-IT" b="1"/>
              <a:t> </a:t>
            </a:r>
            <a:r>
              <a:rPr lang="it-IT" b="1" err="1"/>
              <a:t>managed</a:t>
            </a:r>
            <a:r>
              <a:rPr lang="it-IT" b="1"/>
              <a:t> in </a:t>
            </a:r>
            <a:r>
              <a:rPr lang="it-IT" b="1" err="1"/>
              <a:t>two</a:t>
            </a:r>
            <a:r>
              <a:rPr lang="it-IT" b="1"/>
              <a:t> </a:t>
            </a:r>
            <a:r>
              <a:rPr lang="it-IT" b="1" err="1"/>
              <a:t>different</a:t>
            </a:r>
            <a:r>
              <a:rPr lang="it-IT" b="1"/>
              <a:t> </a:t>
            </a:r>
            <a:r>
              <a:rPr lang="it-IT" b="1" err="1"/>
              <a:t>phases</a:t>
            </a:r>
            <a:r>
              <a:rPr lang="it-IT" b="1"/>
              <a:t> of the pipeline: 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FC6C893-65C5-69ED-DD11-83497DC669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740693"/>
              </p:ext>
            </p:extLst>
          </p:nvPr>
        </p:nvGraphicFramePr>
        <p:xfrm>
          <a:off x="568476" y="2612228"/>
          <a:ext cx="10805646" cy="849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Down Arrow 6">
            <a:extLst>
              <a:ext uri="{FF2B5EF4-FFF2-40B4-BE49-F238E27FC236}">
                <a16:creationId xmlns:a16="http://schemas.microsoft.com/office/drawing/2014/main" id="{5456783C-4146-EF0D-34C0-85B58F6049C1}"/>
              </a:ext>
            </a:extLst>
          </p:cNvPr>
          <p:cNvSpPr/>
          <p:nvPr/>
        </p:nvSpPr>
        <p:spPr>
          <a:xfrm rot="10800000">
            <a:off x="3726856" y="3685596"/>
            <a:ext cx="429491" cy="40178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B2FFB5F5-5E8A-7B2F-8421-762A17CD0F60}"/>
              </a:ext>
            </a:extLst>
          </p:cNvPr>
          <p:cNvSpPr/>
          <p:nvPr/>
        </p:nvSpPr>
        <p:spPr>
          <a:xfrm rot="10800000">
            <a:off x="7232086" y="3699450"/>
            <a:ext cx="429491" cy="40178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F82386-731D-D4AF-680F-C97B9C2321FE}"/>
              </a:ext>
            </a:extLst>
          </p:cNvPr>
          <p:cNvSpPr txBox="1"/>
          <p:nvPr/>
        </p:nvSpPr>
        <p:spPr>
          <a:xfrm>
            <a:off x="2251359" y="4183591"/>
            <a:ext cx="3380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Definition of </a:t>
            </a:r>
            <a:r>
              <a:rPr lang="en-US" b="1"/>
              <a:t>conditional branches</a:t>
            </a:r>
            <a:r>
              <a:rPr lang="en-US"/>
              <a:t> that involves all the operations in and after the conditional clause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069723-B340-D906-40B3-B285B47F9B6A}"/>
              </a:ext>
            </a:extLst>
          </p:cNvPr>
          <p:cNvSpPr txBox="1"/>
          <p:nvPr/>
        </p:nvSpPr>
        <p:spPr>
          <a:xfrm>
            <a:off x="5756589" y="4183117"/>
            <a:ext cx="33804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All the operation inside a conditional branch becomes </a:t>
            </a:r>
            <a:r>
              <a:rPr lang="en-US" b="1"/>
              <a:t>controlled</a:t>
            </a:r>
            <a:r>
              <a:rPr lang="en-US"/>
              <a:t> by the qubit that represents the </a:t>
            </a:r>
            <a:r>
              <a:rPr lang="en-US" err="1"/>
              <a:t>boolean</a:t>
            </a:r>
            <a:r>
              <a:rPr lang="en-US"/>
              <a:t> condition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BB238-67D2-7B16-647E-23BFE1BACE3E}"/>
              </a:ext>
            </a:extLst>
          </p:cNvPr>
          <p:cNvSpPr txBox="1"/>
          <p:nvPr/>
        </p:nvSpPr>
        <p:spPr>
          <a:xfrm>
            <a:off x="858981" y="5893447"/>
            <a:ext cx="10805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 this way </a:t>
            </a:r>
            <a:r>
              <a:rPr lang="en-US" b="1"/>
              <a:t>all the conditional branches are executed but the wrong ones measure zero</a:t>
            </a:r>
          </a:p>
        </p:txBody>
      </p:sp>
      <p:sp>
        <p:nvSpPr>
          <p:cNvPr id="17" name="Rectangle 16" descr="Caret Right with solid fill">
            <a:extLst>
              <a:ext uri="{FF2B5EF4-FFF2-40B4-BE49-F238E27FC236}">
                <a16:creationId xmlns:a16="http://schemas.microsoft.com/office/drawing/2014/main" id="{0CDB77D7-522B-BF8C-19BD-FDD79765B49E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9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Graphic spid="4" grpId="0">
        <p:bldAsOne/>
      </p:bldGraphic>
      <p:bldP spid="7" grpId="0" animBg="1"/>
      <p:bldP spid="8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86EBC-E993-1688-030B-219DD61F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A191FC67-3A09-7E76-A678-96362951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8409"/>
            <a:ext cx="11149874" cy="129838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Translation of C logic: Conditional Clauses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7C31F8-7801-8929-91B2-5E5418EB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8" r="-2" b="-2274"/>
          <a:stretch>
            <a:fillRect/>
          </a:stretch>
        </p:blipFill>
        <p:spPr>
          <a:xfrm>
            <a:off x="642562" y="2343296"/>
            <a:ext cx="3004289" cy="3392486"/>
          </a:xfrm>
          <a:prstGeom prst="rect">
            <a:avLst/>
          </a:prstGeom>
        </p:spPr>
      </p:pic>
      <p:pic>
        <p:nvPicPr>
          <p:cNvPr id="18" name="Picture 17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B3829695-DA6C-9B42-8F1A-253B4312E2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193" r="18210" b="2"/>
          <a:stretch>
            <a:fillRect/>
          </a:stretch>
        </p:blipFill>
        <p:spPr>
          <a:xfrm>
            <a:off x="7780194" y="2343296"/>
            <a:ext cx="3812893" cy="3101414"/>
          </a:xfrm>
          <a:prstGeom prst="rect">
            <a:avLst/>
          </a:prstGeom>
        </p:spPr>
      </p:pic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2A2B6D6-AC33-F6C1-B8DC-9B699FCCCF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9177"/>
          <a:stretch>
            <a:fillRect/>
          </a:stretch>
        </p:blipFill>
        <p:spPr>
          <a:xfrm>
            <a:off x="4041359" y="2297119"/>
            <a:ext cx="3520440" cy="3101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EE2977-B0ED-E542-2F73-3EF5546BE17F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 descr="Caret Right with solid fill">
            <a:extLst>
              <a:ext uri="{FF2B5EF4-FFF2-40B4-BE49-F238E27FC236}">
                <a16:creationId xmlns:a16="http://schemas.microsoft.com/office/drawing/2014/main" id="{8A0BE472-B2DB-5DF1-E424-3DF5B86C0B89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831C9E-0AD7-0183-09D6-464A856168CA}"/>
              </a:ext>
            </a:extLst>
          </p:cNvPr>
          <p:cNvSpPr txBox="1"/>
          <p:nvPr/>
        </p:nvSpPr>
        <p:spPr>
          <a:xfrm>
            <a:off x="1590384" y="598045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/>
              <a:t>C code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47BD0-CFF4-20FB-CE4C-EA5B00894948}"/>
              </a:ext>
            </a:extLst>
          </p:cNvPr>
          <p:cNvSpPr txBox="1"/>
          <p:nvPr/>
        </p:nvSpPr>
        <p:spPr>
          <a:xfrm>
            <a:off x="5011587" y="5980456"/>
            <a:ext cx="1579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/>
              <a:t>Classical 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35D85-F3B5-453B-1316-BDD854929746}"/>
              </a:ext>
            </a:extLst>
          </p:cNvPr>
          <p:cNvSpPr txBox="1"/>
          <p:nvPr/>
        </p:nvSpPr>
        <p:spPr>
          <a:xfrm>
            <a:off x="8893634" y="5980456"/>
            <a:ext cx="1586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/>
              <a:t>Quantum IR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8924D103-BA90-C79C-576A-37D7C3F8A335}"/>
              </a:ext>
            </a:extLst>
          </p:cNvPr>
          <p:cNvCxnSpPr>
            <a:cxnSpLocks/>
          </p:cNvCxnSpPr>
          <p:nvPr/>
        </p:nvCxnSpPr>
        <p:spPr>
          <a:xfrm flipV="1">
            <a:off x="2666320" y="3741420"/>
            <a:ext cx="1651680" cy="889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7DB914A-1F8D-8D73-34B2-736BF5AFE3EC}"/>
              </a:ext>
            </a:extLst>
          </p:cNvPr>
          <p:cNvSpPr/>
          <p:nvPr/>
        </p:nvSpPr>
        <p:spPr>
          <a:xfrm>
            <a:off x="1788160" y="3679190"/>
            <a:ext cx="878160" cy="30226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1726E10-5918-0D65-8B04-BB551EB0D05C}"/>
              </a:ext>
            </a:extLst>
          </p:cNvPr>
          <p:cNvSpPr/>
          <p:nvPr/>
        </p:nvSpPr>
        <p:spPr>
          <a:xfrm>
            <a:off x="4236720" y="4064000"/>
            <a:ext cx="345440" cy="26416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3C6D2C9-A033-540E-1D2A-78323AA90C7A}"/>
              </a:ext>
            </a:extLst>
          </p:cNvPr>
          <p:cNvSpPr/>
          <p:nvPr/>
        </p:nvSpPr>
        <p:spPr>
          <a:xfrm>
            <a:off x="4246880" y="4714240"/>
            <a:ext cx="345440" cy="26416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95E25A36-D76E-6BC8-42B7-DA3CC29DC93E}"/>
              </a:ext>
            </a:extLst>
          </p:cNvPr>
          <p:cNvCxnSpPr>
            <a:cxnSpLocks/>
          </p:cNvCxnSpPr>
          <p:nvPr/>
        </p:nvCxnSpPr>
        <p:spPr>
          <a:xfrm flipV="1">
            <a:off x="7071360" y="4109719"/>
            <a:ext cx="1168400" cy="29972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ight Bracket 25">
            <a:extLst>
              <a:ext uri="{FF2B5EF4-FFF2-40B4-BE49-F238E27FC236}">
                <a16:creationId xmlns:a16="http://schemas.microsoft.com/office/drawing/2014/main" id="{98F6C64A-734C-7686-ADC0-D5B16D4CFDDA}"/>
              </a:ext>
            </a:extLst>
          </p:cNvPr>
          <p:cNvSpPr/>
          <p:nvPr/>
        </p:nvSpPr>
        <p:spPr>
          <a:xfrm>
            <a:off x="6959600" y="4328160"/>
            <a:ext cx="111760" cy="182880"/>
          </a:xfrm>
          <a:prstGeom prst="rightBracke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9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1" grpId="0" animBg="1"/>
      <p:bldP spid="20" grpId="0" animBg="1"/>
      <p:bldP spid="21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A854-AFB6-866A-29E4-7117166B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C07593-56C0-EC05-6E21-CD6AAB96955D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3F96374B-A2F6-B908-54D8-B158D7DA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24760" cy="1044356"/>
          </a:xfrm>
        </p:spPr>
        <p:txBody>
          <a:bodyPr>
            <a:normAutofit fontScale="90000"/>
          </a:bodyPr>
          <a:lstStyle/>
          <a:p>
            <a:r>
              <a:rPr lang="en-US"/>
              <a:t>Translation of C logic: Conditional Loops </a:t>
            </a:r>
            <a:endParaRPr lang="it-IT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70AFDE55-280C-F5EE-B19C-0A9F214AD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27064"/>
            <a:ext cx="6324760" cy="1615342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Loops are implemented in the quantum IR by unrolling them up to a </a:t>
            </a:r>
            <a:r>
              <a:rPr lang="en-US" b="1"/>
              <a:t>maximum number of iterations </a:t>
            </a:r>
            <a:r>
              <a:rPr lang="en-US"/>
              <a:t>(</a:t>
            </a:r>
            <a:r>
              <a:rPr lang="en-US" err="1"/>
              <a:t>max_iter</a:t>
            </a:r>
            <a:r>
              <a:rPr lang="en-US"/>
              <a:t>), rewriting them as a series of </a:t>
            </a:r>
            <a:r>
              <a:rPr lang="en-US" b="1"/>
              <a:t>nested if clauses</a:t>
            </a:r>
            <a:r>
              <a:rPr lang="en-US"/>
              <a:t>. This approach supports both loops with </a:t>
            </a:r>
            <a:r>
              <a:rPr lang="en-US" b="1"/>
              <a:t>statically known and dynamically unknown bounds </a:t>
            </a:r>
            <a:r>
              <a:rPr lang="en-US"/>
              <a:t>at compile time.</a:t>
            </a:r>
            <a:endParaRPr lang="it-IT"/>
          </a:p>
        </p:txBody>
      </p:sp>
      <p:sp>
        <p:nvSpPr>
          <p:cNvPr id="17" name="Rectangle 16" descr="Caret Right with solid fill">
            <a:extLst>
              <a:ext uri="{FF2B5EF4-FFF2-40B4-BE49-F238E27FC236}">
                <a16:creationId xmlns:a16="http://schemas.microsoft.com/office/drawing/2014/main" id="{75B90CDC-2D94-BE9E-AF9F-E2A7CDDE68FA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C7EE75-FDA6-9427-2B47-09122C660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183" y="876314"/>
            <a:ext cx="3056487" cy="59736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FBE744-F937-DB14-4905-81DE55AD6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4085549"/>
            <a:ext cx="4135013" cy="236781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2A52015-0B34-2E89-1040-9A05CB0C89EB}"/>
              </a:ext>
            </a:extLst>
          </p:cNvPr>
          <p:cNvSpPr/>
          <p:nvPr/>
        </p:nvSpPr>
        <p:spPr>
          <a:xfrm>
            <a:off x="7644988" y="2069894"/>
            <a:ext cx="345440" cy="264160"/>
          </a:xfrm>
          <a:prstGeom prst="ellipse">
            <a:avLst/>
          </a:prstGeom>
          <a:noFill/>
          <a:ln>
            <a:solidFill>
              <a:srgbClr val="D73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FAE0DE-3139-BC63-B01B-26A6ACD506B3}"/>
              </a:ext>
            </a:extLst>
          </p:cNvPr>
          <p:cNvSpPr/>
          <p:nvPr/>
        </p:nvSpPr>
        <p:spPr>
          <a:xfrm>
            <a:off x="7644988" y="3296920"/>
            <a:ext cx="345440" cy="264160"/>
          </a:xfrm>
          <a:prstGeom prst="ellipse">
            <a:avLst/>
          </a:prstGeom>
          <a:noFill/>
          <a:ln>
            <a:solidFill>
              <a:srgbClr val="D73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A5847E-EE15-E80B-3630-1B3233C0E092}"/>
              </a:ext>
            </a:extLst>
          </p:cNvPr>
          <p:cNvSpPr/>
          <p:nvPr/>
        </p:nvSpPr>
        <p:spPr>
          <a:xfrm>
            <a:off x="8851706" y="1890684"/>
            <a:ext cx="345440" cy="264160"/>
          </a:xfrm>
          <a:prstGeom prst="ellipse">
            <a:avLst/>
          </a:prstGeom>
          <a:noFill/>
          <a:ln>
            <a:solidFill>
              <a:srgbClr val="D73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3C0640-CE3C-524C-F711-A1383B416B42}"/>
              </a:ext>
            </a:extLst>
          </p:cNvPr>
          <p:cNvSpPr/>
          <p:nvPr/>
        </p:nvSpPr>
        <p:spPr>
          <a:xfrm>
            <a:off x="8851706" y="2782055"/>
            <a:ext cx="345440" cy="264160"/>
          </a:xfrm>
          <a:prstGeom prst="ellipse">
            <a:avLst/>
          </a:prstGeom>
          <a:noFill/>
          <a:ln>
            <a:solidFill>
              <a:srgbClr val="D73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A67AB1-05CD-D761-CBD5-0D1589A69CC5}"/>
              </a:ext>
            </a:extLst>
          </p:cNvPr>
          <p:cNvSpPr/>
          <p:nvPr/>
        </p:nvSpPr>
        <p:spPr>
          <a:xfrm>
            <a:off x="8907957" y="5251983"/>
            <a:ext cx="345440" cy="264160"/>
          </a:xfrm>
          <a:prstGeom prst="ellipse">
            <a:avLst/>
          </a:prstGeom>
          <a:noFill/>
          <a:ln>
            <a:solidFill>
              <a:srgbClr val="D73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841760-B8C2-A95A-5B66-A0AD51FD3126}"/>
              </a:ext>
            </a:extLst>
          </p:cNvPr>
          <p:cNvSpPr/>
          <p:nvPr/>
        </p:nvSpPr>
        <p:spPr>
          <a:xfrm>
            <a:off x="8835108" y="4017598"/>
            <a:ext cx="345440" cy="264160"/>
          </a:xfrm>
          <a:prstGeom prst="ellipse">
            <a:avLst/>
          </a:prstGeom>
          <a:noFill/>
          <a:ln>
            <a:solidFill>
              <a:srgbClr val="D73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A1B8A28-4AB1-FDCA-3896-E50C6054FF00}"/>
              </a:ext>
            </a:extLst>
          </p:cNvPr>
          <p:cNvSpPr/>
          <p:nvPr/>
        </p:nvSpPr>
        <p:spPr>
          <a:xfrm>
            <a:off x="7644988" y="4546345"/>
            <a:ext cx="345440" cy="264160"/>
          </a:xfrm>
          <a:prstGeom prst="ellipse">
            <a:avLst/>
          </a:prstGeom>
          <a:noFill/>
          <a:ln>
            <a:solidFill>
              <a:srgbClr val="D73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6BFE51-78EA-D3D6-D603-448032B75613}"/>
              </a:ext>
            </a:extLst>
          </p:cNvPr>
          <p:cNvSpPr/>
          <p:nvPr/>
        </p:nvSpPr>
        <p:spPr>
          <a:xfrm>
            <a:off x="7644988" y="5793975"/>
            <a:ext cx="345440" cy="264160"/>
          </a:xfrm>
          <a:prstGeom prst="ellipse">
            <a:avLst/>
          </a:prstGeom>
          <a:noFill/>
          <a:ln>
            <a:solidFill>
              <a:srgbClr val="D73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43CAE1-E8E8-C3D5-9A86-57A5BD49332C}"/>
              </a:ext>
            </a:extLst>
          </p:cNvPr>
          <p:cNvSpPr txBox="1"/>
          <p:nvPr/>
        </p:nvSpPr>
        <p:spPr>
          <a:xfrm>
            <a:off x="4753004" y="3912426"/>
            <a:ext cx="139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err="1">
                <a:solidFill>
                  <a:srgbClr val="D73949"/>
                </a:solidFill>
              </a:rPr>
              <a:t>max_iter</a:t>
            </a:r>
            <a:r>
              <a:rPr lang="en-US" i="1">
                <a:solidFill>
                  <a:srgbClr val="D73949"/>
                </a:solidFill>
              </a:rPr>
              <a:t> =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1BF56B-B14B-9ADE-7DE1-5E55C190EAF9}"/>
              </a:ext>
            </a:extLst>
          </p:cNvPr>
          <p:cNvSpPr txBox="1"/>
          <p:nvPr/>
        </p:nvSpPr>
        <p:spPr>
          <a:xfrm>
            <a:off x="7144804" y="199585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solidFill>
                  <a:srgbClr val="D73949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DE8528-B33B-F3F7-182E-779EB5A2A3D0}"/>
              </a:ext>
            </a:extLst>
          </p:cNvPr>
          <p:cNvSpPr txBox="1"/>
          <p:nvPr/>
        </p:nvSpPr>
        <p:spPr>
          <a:xfrm>
            <a:off x="7144804" y="3198167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solidFill>
                  <a:srgbClr val="D73949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AE9C4B-287A-52AA-D419-D9E132B791A3}"/>
              </a:ext>
            </a:extLst>
          </p:cNvPr>
          <p:cNvSpPr txBox="1"/>
          <p:nvPr/>
        </p:nvSpPr>
        <p:spPr>
          <a:xfrm>
            <a:off x="7144804" y="4449907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solidFill>
                  <a:srgbClr val="D73949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BD26F3-6838-F5D8-20E0-D52E60515AE7}"/>
              </a:ext>
            </a:extLst>
          </p:cNvPr>
          <p:cNvSpPr txBox="1"/>
          <p:nvPr/>
        </p:nvSpPr>
        <p:spPr>
          <a:xfrm>
            <a:off x="7144804" y="569319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solidFill>
                  <a:srgbClr val="D73949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FCC998-0416-1EEB-369E-0432B92867C3}"/>
              </a:ext>
            </a:extLst>
          </p:cNvPr>
          <p:cNvSpPr txBox="1"/>
          <p:nvPr/>
        </p:nvSpPr>
        <p:spPr>
          <a:xfrm>
            <a:off x="7985554" y="5761945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>
                <a:solidFill>
                  <a:srgbClr val="D73949"/>
                </a:solidFill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344383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  <p:bldP spid="7" grpId="0" animBg="1"/>
      <p:bldP spid="8" grpId="0" animBg="1"/>
      <p:bldP spid="11" grpId="0" animBg="1"/>
      <p:bldP spid="12" grpId="0" animBg="1"/>
      <p:bldP spid="16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D2FB8-18AA-13FA-BD32-FAA5562CC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0A331D-AAE0-8BAF-FED4-C33BBA264505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28F9CDC-0312-0CE5-0A9F-94EF351908B4}"/>
              </a:ext>
            </a:extLst>
          </p:cNvPr>
          <p:cNvSpPr/>
          <p:nvPr/>
        </p:nvSpPr>
        <p:spPr>
          <a:xfrm>
            <a:off x="11064240" y="142632"/>
            <a:ext cx="768538" cy="79132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01F431-2DFA-CBB4-5A9A-71E93D2CC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990" y="2192386"/>
            <a:ext cx="5330769" cy="37508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4E3121-4A42-5C5A-FECB-C037C0BBE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41" y="2192386"/>
            <a:ext cx="5286083" cy="3687206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43A57544-528A-4EE9-0BA8-9F5093CDF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C813B441-806D-C50D-3051-5F3B1539C61B}"/>
              </a:ext>
            </a:extLst>
          </p:cNvPr>
          <p:cNvSpPr txBox="1">
            <a:spLocks/>
          </p:cNvSpPr>
          <p:nvPr/>
        </p:nvSpPr>
        <p:spPr>
          <a:xfrm>
            <a:off x="521206" y="978408"/>
            <a:ext cx="11149585" cy="10443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Translation of C logic: Conditional Loops 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9941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A376-AE8D-711A-6AE2-E57A4A3C0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55854-D308-CE59-C5F7-E39DBA8E5580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5E44E4E-EF77-C830-DD8F-59B6EEE7A4AC}"/>
              </a:ext>
            </a:extLst>
          </p:cNvPr>
          <p:cNvSpPr/>
          <p:nvPr/>
        </p:nvSpPr>
        <p:spPr>
          <a:xfrm>
            <a:off x="11071775" y="221148"/>
            <a:ext cx="693505" cy="674456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546FA72E-DC4B-F3B0-3DF3-11A69F7B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70057"/>
          </a:xfrm>
        </p:spPr>
        <p:txBody>
          <a:bodyPr>
            <a:normAutofit/>
          </a:bodyPr>
          <a:lstStyle/>
          <a:p>
            <a:r>
              <a:rPr lang="en-US" sz="3800"/>
              <a:t>Time Benchmark: Bitwidth vs. Compilation Cost</a:t>
            </a:r>
            <a:endParaRPr lang="it-IT" sz="3800"/>
          </a:p>
        </p:txBody>
      </p:sp>
      <p:pic>
        <p:nvPicPr>
          <p:cNvPr id="8" name="Immagine 7" descr="Immagine che contiene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19032DBA-CC62-4E5C-718B-FD99EFA95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744" y="1848465"/>
            <a:ext cx="4890915" cy="3228335"/>
          </a:xfrm>
          <a:prstGeom prst="rect">
            <a:avLst/>
          </a:prstGeom>
        </p:spPr>
      </p:pic>
      <p:pic>
        <p:nvPicPr>
          <p:cNvPr id="12" name="Immagine 11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CA22414A-AC5C-D2D7-7B6C-443835422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743" y="4984364"/>
            <a:ext cx="4890915" cy="15688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A280BF2-E520-4E7C-4B23-67EF79AD4496}"/>
                  </a:ext>
                </a:extLst>
              </p:cNvPr>
              <p:cNvSpPr txBox="1"/>
              <p:nvPr/>
            </p:nvSpPr>
            <p:spPr>
              <a:xfrm>
                <a:off x="565604" y="1762740"/>
                <a:ext cx="6362138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/>
                  <a:t>This analysis investigates how increasing integer bitwidth affects quantum compilation time, highlighting the tradeoff between arithmetic precision and synthesis feasibility.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/>
                  <a:t>The benchmark program includes six statically unrolled iterations with chained multiplications and additions, stressing the quantum transformation pipeline.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/>
                  <a:t>These results underline a </a:t>
                </a:r>
                <a:r>
                  <a:rPr lang="en-US" sz="1600" b="1"/>
                  <a:t>key tradeoff</a:t>
                </a:r>
                <a:r>
                  <a:rPr lang="en-US" sz="1600"/>
                  <a:t> in quantum compilation: </a:t>
                </a:r>
                <a:r>
                  <a:rPr lang="en-US" sz="1600" b="1"/>
                  <a:t>precision-rich logic demands careful management of performance overhead</a:t>
                </a:r>
                <a:r>
                  <a:rPr lang="en-US" sz="1600"/>
                  <a:t>.</a:t>
                </a:r>
              </a:p>
              <a:p>
                <a:endParaRPr lang="en-US" sz="16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/>
                  <a:t>Compilation time grows superlinearly with bitwidth due to the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/>
                  <a:t> cost of QFT-based arithmetic and increased control depth.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/>
                  <a:t>Note that the Compilation Time difference is only due to Backend Lowering to Quantum Assembly Language (QASM), </a:t>
                </a:r>
                <a:r>
                  <a:rPr lang="en-US" sz="1600" b="1"/>
                  <a:t>the complexity of Intermediate Representation does not depend on the bidwidth</a:t>
                </a:r>
                <a:r>
                  <a:rPr lang="en-US" sz="160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60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FA280BF2-E520-4E7C-4B23-67EF79AD4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04" y="1762740"/>
                <a:ext cx="6362138" cy="5262979"/>
              </a:xfrm>
              <a:prstGeom prst="rect">
                <a:avLst/>
              </a:prstGeom>
              <a:blipFill>
                <a:blip r:embed="rId7"/>
                <a:stretch>
                  <a:fillRect l="-384" t="-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269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2722-5999-569B-7DE1-196A9401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olo 1">
            <a:extLst>
              <a:ext uri="{FF2B5EF4-FFF2-40B4-BE49-F238E27FC236}">
                <a16:creationId xmlns:a16="http://schemas.microsoft.com/office/drawing/2014/main" id="{74E29ED1-C14F-1380-E2EF-ADC6E04E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870907"/>
            <a:ext cx="6300216" cy="746643"/>
          </a:xfrm>
        </p:spPr>
        <p:txBody>
          <a:bodyPr>
            <a:normAutofit/>
          </a:bodyPr>
          <a:lstStyle/>
          <a:p>
            <a:r>
              <a:rPr lang="it-IT" sz="4000"/>
              <a:t>Quantum Complexity</a:t>
            </a:r>
          </a:p>
        </p:txBody>
      </p:sp>
      <p:graphicFrame>
        <p:nvGraphicFramePr>
          <p:cNvPr id="32" name="Rectangle 1">
            <a:extLst>
              <a:ext uri="{FF2B5EF4-FFF2-40B4-BE49-F238E27FC236}">
                <a16:creationId xmlns:a16="http://schemas.microsoft.com/office/drawing/2014/main" id="{E60CC7E4-C21F-800A-20CD-16B73289DD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083010"/>
              </p:ext>
            </p:extLst>
          </p:nvPr>
        </p:nvGraphicFramePr>
        <p:xfrm>
          <a:off x="7507224" y="1088136"/>
          <a:ext cx="416052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F7D6A0A-F102-39C5-D01A-894843403444}"/>
              </a:ext>
            </a:extLst>
          </p:cNvPr>
          <p:cNvSpPr txBox="1"/>
          <p:nvPr/>
        </p:nvSpPr>
        <p:spPr>
          <a:xfrm>
            <a:off x="412526" y="1617550"/>
            <a:ext cx="69125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All circuits have been decomposed into the Clifford+T universal gate set to enable backend-independent complexity analysis and fair cost estimation across fault-tolerant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Due to static single assignment (SSA) and lack of in-place operations, qubit counts grow proportionally with control depth and register duplication across branches.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The complexity trends observed confirm that circuit size correlates not only with program size, but more strongly with arithmetic intensity and register bitwidth, consistent with the previous timing benchmarks.</a:t>
            </a:r>
            <a:endParaRPr lang="it-IT" sz="1600"/>
          </a:p>
        </p:txBody>
      </p:sp>
      <p:pic>
        <p:nvPicPr>
          <p:cNvPr id="34" name="Immagine 33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F1466AA0-BC4B-FA4C-E410-DFBD306358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823" y="4041654"/>
            <a:ext cx="5851579" cy="2304282"/>
          </a:xfrm>
          <a:prstGeom prst="rect">
            <a:avLst/>
          </a:prstGeom>
        </p:spPr>
      </p:pic>
      <p:sp>
        <p:nvSpPr>
          <p:cNvPr id="35" name="Rectangle 5">
            <a:extLst>
              <a:ext uri="{FF2B5EF4-FFF2-40B4-BE49-F238E27FC236}">
                <a16:creationId xmlns:a16="http://schemas.microsoft.com/office/drawing/2014/main" id="{36CB2E97-C3FD-F959-F75F-338AAE8ED3FA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058127E3-B886-E79A-AAE2-06396FAE7CBF}"/>
              </a:ext>
            </a:extLst>
          </p:cNvPr>
          <p:cNvSpPr/>
          <p:nvPr/>
        </p:nvSpPr>
        <p:spPr>
          <a:xfrm>
            <a:off x="11071775" y="221148"/>
            <a:ext cx="693505" cy="674456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3980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67A1-4752-C510-A112-5E25D412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551F23D1-8B3D-3AD5-9916-FE93A4350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347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Chained Arithmetic and No-Cloning</a:t>
            </a:r>
          </a:p>
        </p:txBody>
      </p:sp>
      <p:pic>
        <p:nvPicPr>
          <p:cNvPr id="7" name="Segnaposto contenuto 6" descr="Immagine che contiene testo, schermata, linea, Carattere&#10;&#10;Il contenuto generato dall'IA potrebbe non essere corretto.">
            <a:extLst>
              <a:ext uri="{FF2B5EF4-FFF2-40B4-BE49-F238E27FC236}">
                <a16:creationId xmlns:a16="http://schemas.microsoft.com/office/drawing/2014/main" id="{C0C1D34F-747D-C15C-48E7-D6BE2A73F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19991" y="666703"/>
            <a:ext cx="2434147" cy="60475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9CA58B-ECC1-4887-1078-BBA3E9AFBE0A}"/>
              </a:ext>
            </a:extLst>
          </p:cNvPr>
          <p:cNvSpPr/>
          <p:nvPr/>
        </p:nvSpPr>
        <p:spPr>
          <a:xfrm>
            <a:off x="10754138" y="304376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E0EB2A8-481F-6576-B1D8-2539A938E30D}"/>
              </a:ext>
            </a:extLst>
          </p:cNvPr>
          <p:cNvSpPr/>
          <p:nvPr/>
        </p:nvSpPr>
        <p:spPr>
          <a:xfrm>
            <a:off x="11071775" y="221148"/>
            <a:ext cx="693505" cy="674456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C948EC5-3D91-2893-D365-41E5B7A14C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870" y="2471110"/>
            <a:ext cx="2725123" cy="973626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1B8CD5C-31A6-2B68-13CB-0BF509F096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70" y="3914430"/>
            <a:ext cx="6803136" cy="959350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EA705A1-EC84-9E3D-A6C8-634AE2939090}"/>
              </a:ext>
            </a:extLst>
          </p:cNvPr>
          <p:cNvSpPr txBox="1"/>
          <p:nvPr/>
        </p:nvSpPr>
        <p:spPr>
          <a:xfrm>
            <a:off x="596348" y="3518866"/>
            <a:ext cx="42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the example: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0B5BB3A-732F-D849-9EC7-8E1CE5AC54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661" y="5370748"/>
            <a:ext cx="5566339" cy="959350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771A258-E6BF-3AAD-0D42-C01B1E1BE1A6}"/>
              </a:ext>
            </a:extLst>
          </p:cNvPr>
          <p:cNvSpPr txBox="1"/>
          <p:nvPr/>
        </p:nvSpPr>
        <p:spPr>
          <a:xfrm>
            <a:off x="596348" y="4963316"/>
            <a:ext cx="42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 general final state has form:</a:t>
            </a:r>
          </a:p>
        </p:txBody>
      </p:sp>
    </p:spTree>
    <p:extLst>
      <p:ext uri="{BB962C8B-B14F-4D97-AF65-F5344CB8AC3E}">
        <p14:creationId xmlns:p14="http://schemas.microsoft.com/office/powerpoint/2010/main" val="288939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2BD0D-B912-FB21-F59F-05F5D199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1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ADCEDCD1-46E1-513D-D1FD-229D8189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347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Chained Arithmetic and No-Cloning</a:t>
            </a: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32702C0F-C618-376D-8E1A-25AEEE087013}"/>
              </a:ext>
            </a:extLst>
          </p:cNvPr>
          <p:cNvSpPr txBox="1"/>
          <p:nvPr/>
        </p:nvSpPr>
        <p:spPr>
          <a:xfrm>
            <a:off x="517870" y="2325756"/>
            <a:ext cx="7648757" cy="4150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it-IT" sz="1600" b="1" i="0" u="none" strike="noStrike" cap="none" normalizeH="0" baseline="0">
                <a:ln>
                  <a:noFill/>
                </a:ln>
                <a:effectLst/>
              </a:rPr>
              <a:t>Classical Case: No Superposition</a:t>
            </a:r>
            <a:b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  <a:t>When qubits encode definite classical values, each output is deterministically derived and no </a:t>
            </a:r>
            <a:r>
              <a:rPr kumimoji="0" lang="en-US" altLang="it-IT" sz="1600" b="0" i="0" strike="noStrike" cap="none" normalizeH="0" baseline="0">
                <a:ln>
                  <a:noFill/>
                </a:ln>
                <a:effectLst/>
              </a:rPr>
              <a:t>entanglement</a:t>
            </a:r>
            <a: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  <a:t> arises.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it-IT" sz="1600" b="1" i="0" u="none" strike="noStrike" cap="none" normalizeH="0" baseline="0">
                <a:ln>
                  <a:noFill/>
                </a:ln>
                <a:effectLst/>
              </a:rPr>
              <a:t>Quantum Case: Superposition and Entanglement</a:t>
            </a:r>
            <a:b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  <a:t>Applying arithmetic operations to superposed inputs produces entangled outputs; registers are no longer independent.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it-IT" sz="1600" b="1" i="0" u="none" strike="noStrike" cap="none" normalizeH="0" baseline="0">
                <a:ln>
                  <a:noFill/>
                </a:ln>
                <a:effectLst/>
              </a:rPr>
              <a:t>Collapse on Measurement</a:t>
            </a:r>
            <a:b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  <a:t>Measuring one output register collapses all correlated registers due to entanglement, preventing reuse of partial results.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it-IT" sz="1600" b="1" i="0" u="none" strike="noStrike" cap="none" normalizeH="0" baseline="0">
                <a:ln>
                  <a:noFill/>
                </a:ln>
                <a:effectLst/>
              </a:rPr>
              <a:t>No Advantage from Postselection</a:t>
            </a:r>
            <a:b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  <a:t>Even using Grover’s algorithm to amplify a desired input state, the outputs remain tied to the same classical function, with no gain over a classical path.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it-IT" sz="1600" b="1" i="0" u="none" strike="noStrike" cap="none" normalizeH="0" baseline="0">
                <a:ln>
                  <a:noFill/>
                </a:ln>
                <a:effectLst/>
              </a:rPr>
              <a:t>Core Challenge: Meaningful Superposition Use</a:t>
            </a:r>
            <a:b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it-IT" sz="1600" b="0" i="0" u="none" strike="noStrike" cap="none" normalizeH="0" baseline="0">
                <a:ln>
                  <a:noFill/>
                </a:ln>
                <a:effectLst/>
              </a:rPr>
              <a:t>The difficulty lies not in implementing arithmetic quantumly, but in leveraging superposition for computation that cannot be classically reproduced.</a:t>
            </a:r>
          </a:p>
        </p:txBody>
      </p:sp>
      <p:pic>
        <p:nvPicPr>
          <p:cNvPr id="7" name="Segnaposto contenuto 6" descr="Immagine che contiene testo, schermata, linea, Carattere&#10;&#10;Il contenuto generato dall'IA potrebbe non essere corretto.">
            <a:extLst>
              <a:ext uri="{FF2B5EF4-FFF2-40B4-BE49-F238E27FC236}">
                <a16:creationId xmlns:a16="http://schemas.microsoft.com/office/drawing/2014/main" id="{219E1DD4-789A-2D40-3F79-084D81106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19991" y="666703"/>
            <a:ext cx="2434147" cy="60475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AC5F36-7BF5-FAE6-7428-3437A65BF7B4}"/>
              </a:ext>
            </a:extLst>
          </p:cNvPr>
          <p:cNvSpPr/>
          <p:nvPr/>
        </p:nvSpPr>
        <p:spPr>
          <a:xfrm>
            <a:off x="10754138" y="266279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7CAEDA3-52D6-FC25-A31E-D4456599E4C8}"/>
              </a:ext>
            </a:extLst>
          </p:cNvPr>
          <p:cNvSpPr/>
          <p:nvPr/>
        </p:nvSpPr>
        <p:spPr>
          <a:xfrm>
            <a:off x="11071775" y="221148"/>
            <a:ext cx="693505" cy="674456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2353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38DFD-53DF-2859-887E-3A9633D3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853-00F5-224B-77EC-7099F97DB4D5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AD47379D-5AB3-6C07-CE00-145ACE4B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9574"/>
          </a:xfrm>
        </p:spPr>
        <p:txBody>
          <a:bodyPr/>
          <a:lstStyle/>
          <a:p>
            <a:r>
              <a:rPr lang="it-IT"/>
              <a:t>Conclusions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9536E320-27C0-655F-16F9-6FF656CD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8800"/>
            <a:ext cx="11155680" cy="4517136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Modular Quantum Compilation</a:t>
            </a:r>
          </a:p>
          <a:p>
            <a:pPr marL="0" indent="0">
              <a:buNone/>
            </a:pPr>
            <a:r>
              <a:rPr lang="en-US"/>
              <a:t>We introduced a </a:t>
            </a:r>
            <a:r>
              <a:rPr lang="en-US" b="1"/>
              <a:t>modular pipeline</a:t>
            </a:r>
            <a:r>
              <a:rPr lang="en-US"/>
              <a:t> for synthesizing quantum circuits from high-level C programs.</a:t>
            </a:r>
          </a:p>
          <a:p>
            <a:pPr marL="0" indent="0">
              <a:buNone/>
            </a:pPr>
            <a:r>
              <a:rPr lang="en-US"/>
              <a:t>The approach is based on </a:t>
            </a:r>
            <a:r>
              <a:rPr lang="en-US" b="1"/>
              <a:t>intermediate representations (IRs)</a:t>
            </a:r>
            <a:r>
              <a:rPr lang="en-US"/>
              <a:t> that preserve semantics and support quantum constraints like </a:t>
            </a:r>
            <a:r>
              <a:rPr lang="en-US" b="1"/>
              <a:t>unitarity</a:t>
            </a:r>
            <a:r>
              <a:rPr lang="en-US"/>
              <a:t>, </a:t>
            </a:r>
            <a:r>
              <a:rPr lang="en-US" b="1"/>
              <a:t>reversibility</a:t>
            </a:r>
            <a:r>
              <a:rPr lang="en-US"/>
              <a:t>, and </a:t>
            </a:r>
            <a:r>
              <a:rPr lang="en-US" b="1"/>
              <a:t>SSA form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 b="1"/>
              <a:t>Key Advantages:</a:t>
            </a:r>
          </a:p>
          <a:p>
            <a:r>
              <a:rPr lang="en-US" b="1"/>
              <a:t>IR-centric architecture</a:t>
            </a:r>
            <a:r>
              <a:rPr lang="en-US"/>
              <a:t> enables semantic clarity, structural reuse, and introspection.</a:t>
            </a:r>
          </a:p>
          <a:p>
            <a:r>
              <a:rPr lang="en-US" b="1"/>
              <a:t>No early commitment</a:t>
            </a:r>
            <a:r>
              <a:rPr lang="en-US"/>
              <a:t> to fixed transformations: abstraction levels can be revisited.</a:t>
            </a:r>
          </a:p>
          <a:p>
            <a:r>
              <a:rPr lang="en-US"/>
              <a:t>Facilitates </a:t>
            </a:r>
            <a:r>
              <a:rPr lang="en-US" b="1"/>
              <a:t>debugging</a:t>
            </a:r>
            <a:r>
              <a:rPr lang="en-US"/>
              <a:t>, </a:t>
            </a:r>
            <a:r>
              <a:rPr lang="en-US" b="1"/>
              <a:t>optimization</a:t>
            </a:r>
            <a:r>
              <a:rPr lang="en-US"/>
              <a:t>, and </a:t>
            </a:r>
            <a:r>
              <a:rPr lang="en-US" b="1"/>
              <a:t>resource-aware synthesis</a:t>
            </a:r>
            <a:r>
              <a:rPr lang="en-US"/>
              <a:t>.</a:t>
            </a:r>
          </a:p>
          <a:p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688DC47-4A9A-F13E-075B-E38536380895}"/>
              </a:ext>
            </a:extLst>
          </p:cNvPr>
          <p:cNvSpPr/>
          <p:nvPr/>
        </p:nvSpPr>
        <p:spPr>
          <a:xfrm>
            <a:off x="11064240" y="166792"/>
            <a:ext cx="645880" cy="674456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1001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4E20-2C08-D317-454F-9F3DC64C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E1106B-66D2-36FE-B37A-75BEF7091DDD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75297972-84AF-0375-7DBD-85E17F30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9574"/>
          </a:xfrm>
        </p:spPr>
        <p:txBody>
          <a:bodyPr/>
          <a:lstStyle/>
          <a:p>
            <a:r>
              <a:rPr lang="en-US"/>
              <a:t>Future Developments</a:t>
            </a:r>
            <a:endParaRPr lang="it-IT"/>
          </a:p>
        </p:txBody>
      </p:sp>
      <p:graphicFrame>
        <p:nvGraphicFramePr>
          <p:cNvPr id="12" name="Segnaposto contenuto 2">
            <a:extLst>
              <a:ext uri="{FF2B5EF4-FFF2-40B4-BE49-F238E27FC236}">
                <a16:creationId xmlns:a16="http://schemas.microsoft.com/office/drawing/2014/main" id="{D63ED9BA-930B-2365-D7F8-033A0BF11A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105977"/>
              </p:ext>
            </p:extLst>
          </p:nvPr>
        </p:nvGraphicFramePr>
        <p:xfrm>
          <a:off x="260604" y="1787857"/>
          <a:ext cx="11670792" cy="4517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ttangolo 2">
            <a:extLst>
              <a:ext uri="{FF2B5EF4-FFF2-40B4-BE49-F238E27FC236}">
                <a16:creationId xmlns:a16="http://schemas.microsoft.com/office/drawing/2014/main" id="{C2D413FB-A948-7E1B-96E6-7E300914079B}"/>
              </a:ext>
            </a:extLst>
          </p:cNvPr>
          <p:cNvSpPr/>
          <p:nvPr/>
        </p:nvSpPr>
        <p:spPr>
          <a:xfrm>
            <a:off x="11064240" y="166792"/>
            <a:ext cx="645880" cy="674456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434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9D67C-0F68-2AA5-D5C5-7737E6453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Thank you for the attention </a:t>
            </a:r>
          </a:p>
        </p:txBody>
      </p:sp>
      <p:sp>
        <p:nvSpPr>
          <p:cNvPr id="22" name="Freeform: Shape 14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22" descr="Smiling Face with No Fill">
            <a:extLst>
              <a:ext uri="{FF2B5EF4-FFF2-40B4-BE49-F238E27FC236}">
                <a16:creationId xmlns:a16="http://schemas.microsoft.com/office/drawing/2014/main" id="{27F21743-849E-DF30-750E-414D16924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6315" y="1000768"/>
            <a:ext cx="4956048" cy="4956048"/>
          </a:xfrm>
          <a:prstGeom prst="rect">
            <a:avLst/>
          </a:prstGeom>
        </p:spPr>
      </p:pic>
      <p:sp>
        <p:nvSpPr>
          <p:cNvPr id="24" name="Freeform: Shape 16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37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2B0A-64A1-BA10-F130-27667FF1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54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433F24-7D9C-D028-12BC-8B05D5226021}"/>
              </a:ext>
            </a:extLst>
          </p:cNvPr>
          <p:cNvSpPr/>
          <p:nvPr/>
        </p:nvSpPr>
        <p:spPr>
          <a:xfrm>
            <a:off x="10363200" y="304800"/>
            <a:ext cx="1402080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937D8EC-FDB7-C572-07EA-D6D8136D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44356"/>
          </a:xfrm>
        </p:spPr>
        <p:txBody>
          <a:bodyPr>
            <a:normAutofit/>
          </a:bodyPr>
          <a:lstStyle/>
          <a:p>
            <a:r>
              <a:rPr lang="en-US"/>
              <a:t>Translation of C logic: Operations </a:t>
            </a:r>
            <a:endParaRPr lang="it-IT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35093834-7279-35B6-ED48-79D99E0AD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59835"/>
            <a:ext cx="10513376" cy="4323172"/>
          </a:xfrm>
        </p:spPr>
        <p:txBody>
          <a:bodyPr>
            <a:normAutofit/>
          </a:bodyPr>
          <a:lstStyle/>
          <a:p>
            <a:r>
              <a:rPr lang="en-US"/>
              <a:t>The Quantum Fourier Transform (QFT) offers an elegant approach to implementing arithmetic operations on registers while minimizing ancilla usage.</a:t>
            </a:r>
          </a:p>
          <a:p>
            <a:r>
              <a:rPr lang="en-US"/>
              <a:t>In classical code, variables are often overwritten freely. In quantum programs, this is forbidden: all operations must be reversible, and input states must either be preserved or carefully </a:t>
            </a:r>
            <a:r>
              <a:rPr lang="en-US" err="1"/>
              <a:t>uncomputed</a:t>
            </a:r>
            <a:r>
              <a:rPr lang="en-US"/>
              <a:t>.</a:t>
            </a:r>
          </a:p>
          <a:p>
            <a:r>
              <a:rPr lang="en-US"/>
              <a:t>All the operations has been implemented also in the immediate form: in this way operations that involves constant does not require to instantiate a new quantum register.</a:t>
            </a:r>
          </a:p>
          <a:p>
            <a:r>
              <a:rPr lang="en-US"/>
              <a:t>All the operations has been also implemented in a controlled form for the translation of the conditional clauses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7" name="Rectangle 6" descr="Caret Right with solid fill">
            <a:extLst>
              <a:ext uri="{FF2B5EF4-FFF2-40B4-BE49-F238E27FC236}">
                <a16:creationId xmlns:a16="http://schemas.microsoft.com/office/drawing/2014/main" id="{EBB93A46-332D-B6B9-DD7C-AF16DA93015C}"/>
              </a:ext>
            </a:extLst>
          </p:cNvPr>
          <p:cNvSpPr/>
          <p:nvPr/>
        </p:nvSpPr>
        <p:spPr>
          <a:xfrm>
            <a:off x="10836137" y="153145"/>
            <a:ext cx="834655" cy="834655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2085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2460</Words>
  <Application>Microsoft Macintosh PowerPoint</Application>
  <PresentationFormat>Widescreen</PresentationFormat>
  <Paragraphs>271</Paragraphs>
  <Slides>26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Bierstadt</vt:lpstr>
      <vt:lpstr>Cambria Math</vt:lpstr>
      <vt:lpstr>PT Mono</vt:lpstr>
      <vt:lpstr>GestaltVTI</vt:lpstr>
      <vt:lpstr>HIGH-LEVEL SYNTHESIS OF QUANTUM CIRCUITS FROM C VIA MLIR AND QUANTUM-AWARE INTERMEDIATE REPRESENTATIONS </vt:lpstr>
      <vt:lpstr>Table of contents</vt:lpstr>
      <vt:lpstr>Introduction and goals</vt:lpstr>
      <vt:lpstr>Introduction and goals</vt:lpstr>
      <vt:lpstr>Introduction and goals</vt:lpstr>
      <vt:lpstr>Pipeline Description</vt:lpstr>
      <vt:lpstr>Pipeline Description</vt:lpstr>
      <vt:lpstr>Custom MLIR Dialect for C-to-IR</vt:lpstr>
      <vt:lpstr>Quantum MLIR Dialect</vt:lpstr>
      <vt:lpstr>Translation of C logic: Integer Representation </vt:lpstr>
      <vt:lpstr>Translation of C logic: Operations </vt:lpstr>
      <vt:lpstr>Translation of C logic: Operations </vt:lpstr>
      <vt:lpstr>Translation of C logic: Operations </vt:lpstr>
      <vt:lpstr>Translation of C logic: Conditional clauses</vt:lpstr>
      <vt:lpstr>Translation of C logic: Conditional Clauses</vt:lpstr>
      <vt:lpstr>Translation of C logic: Conditional Loops </vt:lpstr>
      <vt:lpstr>PowerPoint Presentation</vt:lpstr>
      <vt:lpstr>Time Benchmark: Bitwidth vs. Compilation Cost</vt:lpstr>
      <vt:lpstr>Quantum Complexity</vt:lpstr>
      <vt:lpstr>Chained Arithmetic and No-Cloning</vt:lpstr>
      <vt:lpstr>Chained Arithmetic and No-Cloning</vt:lpstr>
      <vt:lpstr>Conclusions</vt:lpstr>
      <vt:lpstr>Future Developments</vt:lpstr>
      <vt:lpstr>Thank you for the attention </vt:lpstr>
      <vt:lpstr>PowerPoint Presentation</vt:lpstr>
      <vt:lpstr>Translation of C logic: Operations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Ignazio Pagliochini</dc:creator>
  <cp:lastModifiedBy>Leonardo Ignazio Pagliochini</cp:lastModifiedBy>
  <cp:revision>2</cp:revision>
  <dcterms:created xsi:type="dcterms:W3CDTF">2025-08-05T16:14:28Z</dcterms:created>
  <dcterms:modified xsi:type="dcterms:W3CDTF">2025-08-27T14:33:14Z</dcterms:modified>
</cp:coreProperties>
</file>